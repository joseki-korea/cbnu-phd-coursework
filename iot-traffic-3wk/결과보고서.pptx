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9" r:id="rId1"/>
    <p:sldMasterId id="2147483795" r:id="rId2"/>
  </p:sldMasterIdLst>
  <p:notesMasterIdLst>
    <p:notesMasterId r:id="rId33"/>
  </p:notesMasterIdLst>
  <p:handoutMasterIdLst>
    <p:handoutMasterId r:id="rId34"/>
  </p:handoutMasterIdLst>
  <p:sldIdLst>
    <p:sldId id="1001" r:id="rId3"/>
    <p:sldId id="1002" r:id="rId4"/>
    <p:sldId id="1003" r:id="rId5"/>
    <p:sldId id="1004" r:id="rId6"/>
    <p:sldId id="1005" r:id="rId7"/>
    <p:sldId id="1006" r:id="rId8"/>
    <p:sldId id="1007" r:id="rId9"/>
    <p:sldId id="1008" r:id="rId10"/>
    <p:sldId id="1009" r:id="rId11"/>
    <p:sldId id="1010" r:id="rId12"/>
    <p:sldId id="1011" r:id="rId13"/>
    <p:sldId id="1012" r:id="rId14"/>
    <p:sldId id="1013" r:id="rId15"/>
  </p:sldIdLst>
  <p:sldSz cx="9144000" cy="6858000" type="screen4x3"/>
  <p:notesSz cx="6797675" cy="9926638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ern="1200">
        <a:solidFill>
          <a:srgbClr val="00C0C0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rgbClr val="00C0C0"/>
        </a:solidFill>
        <a:latin typeface="Arial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CEE8726-F9F3-41AF-B5F6-E34B9A5B6B90}">
          <p14:sldIdLst>
            <p14:sldId id="449"/>
            <p14:sldId id="1008"/>
            <p14:sldId id="1047"/>
            <p14:sldId id="1028"/>
            <p14:sldId id="1036"/>
            <p14:sldId id="1060"/>
            <p14:sldId id="1045"/>
            <p14:sldId id="1061"/>
            <p14:sldId id="1031"/>
            <p14:sldId id="1054"/>
            <p14:sldId id="1056"/>
            <p14:sldId id="1057"/>
            <p14:sldId id="1058"/>
            <p14:sldId id="1037"/>
            <p14:sldId id="1048"/>
            <p14:sldId id="1040"/>
            <p14:sldId id="1049"/>
            <p14:sldId id="1050"/>
            <p14:sldId id="1051"/>
            <p14:sldId id="1052"/>
            <p14:sldId id="1041"/>
            <p14:sldId id="1043"/>
            <p14:sldId id="1059"/>
            <p14:sldId id="1044"/>
            <p14:sldId id="1033"/>
            <p14:sldId id="1013"/>
            <p14:sldId id="1006"/>
            <p14:sldId id="1029"/>
            <p14:sldId id="1030"/>
            <p14:sldId id="10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92" userDrawn="1">
          <p15:clr>
            <a:srgbClr val="A4A3A4"/>
          </p15:clr>
        </p15:guide>
        <p15:guide id="2" orient="horz" pos="813" userDrawn="1">
          <p15:clr>
            <a:srgbClr val="A4A3A4"/>
          </p15:clr>
        </p15:guide>
        <p15:guide id="3" orient="horz" pos="1122" userDrawn="1">
          <p15:clr>
            <a:srgbClr val="A4A3A4"/>
          </p15:clr>
        </p15:guide>
        <p15:guide id="4" orient="horz" pos="3537" userDrawn="1">
          <p15:clr>
            <a:srgbClr val="A4A3A4"/>
          </p15:clr>
        </p15:guide>
        <p15:guide id="5" orient="horz" pos="4199" userDrawn="1">
          <p15:clr>
            <a:srgbClr val="A4A3A4"/>
          </p15:clr>
        </p15:guide>
        <p15:guide id="6" orient="horz" pos="3921" userDrawn="1">
          <p15:clr>
            <a:srgbClr val="A4A3A4"/>
          </p15:clr>
        </p15:guide>
        <p15:guide id="7" orient="horz" pos="1952" userDrawn="1">
          <p15:clr>
            <a:srgbClr val="A4A3A4"/>
          </p15:clr>
        </p15:guide>
        <p15:guide id="8" pos="5551" userDrawn="1">
          <p15:clr>
            <a:srgbClr val="A4A3A4"/>
          </p15:clr>
        </p15:guide>
        <p15:guide id="9" pos="338" userDrawn="1">
          <p15:clr>
            <a:srgbClr val="A4A3A4"/>
          </p15:clr>
        </p15:guide>
        <p15:guide id="10" pos="4497" userDrawn="1">
          <p15:clr>
            <a:srgbClr val="A4A3A4"/>
          </p15:clr>
        </p15:guide>
        <p15:guide id="11" pos="2829" userDrawn="1">
          <p15:clr>
            <a:srgbClr val="A4A3A4"/>
          </p15:clr>
        </p15:guide>
        <p15:guide id="12" pos="1557" userDrawn="1">
          <p15:clr>
            <a:srgbClr val="A4A3A4"/>
          </p15:clr>
        </p15:guide>
        <p15:guide id="13" pos="3056" userDrawn="1">
          <p15:clr>
            <a:srgbClr val="A4A3A4"/>
          </p15:clr>
        </p15:guide>
        <p15:guide id="14" orient="horz" pos="1102">
          <p15:clr>
            <a:srgbClr val="A4A3A4"/>
          </p15:clr>
        </p15:guide>
        <p15:guide id="15" orient="horz" pos="3067">
          <p15:clr>
            <a:srgbClr val="A4A3A4"/>
          </p15:clr>
        </p15:guide>
        <p15:guide id="16" orient="horz" pos="4201">
          <p15:clr>
            <a:srgbClr val="A4A3A4"/>
          </p15:clr>
        </p15:guide>
        <p15:guide id="17" orient="horz" pos="1933">
          <p15:clr>
            <a:srgbClr val="A4A3A4"/>
          </p15:clr>
        </p15:guide>
        <p15:guide id="18" pos="552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E0E0"/>
    <a:srgbClr val="11265B"/>
    <a:srgbClr val="132962"/>
    <a:srgbClr val="12275E"/>
    <a:srgbClr val="9A1F4E"/>
    <a:srgbClr val="E8E8E8"/>
    <a:srgbClr val="152B65"/>
    <a:srgbClr val="8FAADC"/>
    <a:srgbClr val="3367BB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7" autoAdjust="0"/>
    <p:restoredTop sz="92077" autoAdjust="0"/>
  </p:normalViewPr>
  <p:slideViewPr>
    <p:cSldViewPr>
      <p:cViewPr varScale="1">
        <p:scale>
          <a:sx n="96" d="100"/>
          <a:sy n="96" d="100"/>
        </p:scale>
        <p:origin x="681" y="54"/>
      </p:cViewPr>
      <p:guideLst>
        <p:guide orient="horz" pos="492"/>
        <p:guide orient="horz" pos="813"/>
        <p:guide orient="horz" pos="1122"/>
        <p:guide orient="horz" pos="3537"/>
        <p:guide orient="horz" pos="4199"/>
        <p:guide orient="horz" pos="3921"/>
        <p:guide orient="horz" pos="1952"/>
        <p:guide pos="5551"/>
        <p:guide pos="338"/>
        <p:guide pos="4497"/>
        <p:guide pos="2829"/>
        <p:guide pos="1557"/>
        <p:guide pos="3056"/>
        <p:guide orient="horz" pos="1102"/>
        <p:guide orient="horz" pos="3067"/>
        <p:guide orient="horz" pos="4201"/>
        <p:guide orient="horz" pos="1933"/>
        <p:guide pos="552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908" y="414"/>
      </p:cViewPr>
      <p:guideLst>
        <p:guide orient="horz" pos="3127"/>
        <p:guide pos="2141"/>
      </p:guideLst>
    </p:cSldViewPr>
  </p:notesViewPr>
  <p:gridSpacing cx="90001" cy="9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33" Type="http://schemas.openxmlformats.org/officeDocument/2006/relationships/notesMaster" Target="notesMasters/notesMaster1.xml"/><Relationship Id="rId34" Type="http://schemas.openxmlformats.org/officeDocument/2006/relationships/handoutMaster" Target="handoutMasters/handout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324A1115-9F2D-4D68-85C5-5EC1194C254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692951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9688" y="0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411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5710"/>
            <a:ext cx="5435600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l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9688" y="9428242"/>
            <a:ext cx="2946400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714" tIns="45857" rIns="91714" bIns="45857" numCol="1" anchor="b" anchorCtr="0" compatLnSpc="1">
            <a:prstTxWarp prst="textNoShape">
              <a:avLst/>
            </a:prstTxWarp>
          </a:bodyPr>
          <a:lstStyle>
            <a:lvl1pPr algn="r" defTabSz="917575">
              <a:defRPr sz="1200">
                <a:solidFill>
                  <a:schemeClr val="tx1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BDE6D3F4-B44C-4D4D-B492-8788D90AD2B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165830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15619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9" name="슬라이드 번호 개체 틀 5"/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4" name="직사각형 13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32074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3F254D-D485-4424-B9F6-B67A605DDF19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9537642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3310797-E8F0-33FF-3EAC-DF0D297E0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4B02B1F-C918-4EA9-8A71-4A69BA71DD78}" type="slidenum">
              <a:rPr lang="en-GB" altLang="ko-KR" smtClean="0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43135767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38400" y="64800"/>
            <a:ext cx="8042031" cy="64135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Rectangle 4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34F184-09B5-43E3-9B7A-CC3A5F5FC70F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</p:spTree>
    <p:extLst>
      <p:ext uri="{BB962C8B-B14F-4D97-AF65-F5344CB8AC3E}">
        <p14:creationId xmlns:p14="http://schemas.microsoft.com/office/powerpoint/2010/main" val="3124109621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100000"/>
                </a:schemeClr>
              </a:gs>
              <a:gs pos="25000">
                <a:schemeClr val="accent1">
                  <a:lumMod val="100000"/>
                </a:schemeClr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19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2440"/>
          <a:stretch>
            <a:fillRect/>
          </a:stretch>
        </p:blipFill>
        <p:spPr bwMode="auto">
          <a:xfrm rot="10800000">
            <a:off x="-1" y="-4143"/>
            <a:ext cx="9144000" cy="4182802"/>
          </a:xfrm>
          <a:prstGeom prst="rect">
            <a:avLst/>
          </a:prstGeom>
          <a:noFill/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42FF581-74A3-4A97-A84D-A91C762C65DD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954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09953" y="1206650"/>
            <a:ext cx="8042031" cy="4680000"/>
          </a:xfrm>
        </p:spPr>
        <p:txBody>
          <a:bodyPr/>
          <a:lstStyle>
            <a:lvl1pPr>
              <a:lnSpc>
                <a:spcPct val="150000"/>
              </a:lnSpc>
              <a:defRPr sz="1600">
                <a:latin typeface="Corbel" panose="020B0503020204020204" pitchFamily="34" charset="0"/>
                <a:ea typeface="맑은 고딕" panose="020B0503020000020004" pitchFamily="50" charset="-127"/>
              </a:defRPr>
            </a:lvl1pPr>
            <a:lvl2pPr marL="410318" indent="-167058">
              <a:lnSpc>
                <a:spcPct val="150000"/>
              </a:lnSpc>
              <a:buFont typeface="맑은 고딕" panose="020B0503020000020004" pitchFamily="50" charset="-127"/>
              <a:buChar char="√"/>
              <a:defRPr sz="1400">
                <a:latin typeface="Corbel" panose="020B0503020204020204" pitchFamily="34" charset="0"/>
                <a:ea typeface="맑은 고딕" panose="020B0503020000020004" pitchFamily="50" charset="-127"/>
              </a:defRPr>
            </a:lvl2pPr>
            <a:lvl3pPr marL="580307" indent="-168524">
              <a:lnSpc>
                <a:spcPct val="150000"/>
              </a:lnSpc>
              <a:buFont typeface="Arial" panose="020B0604020202020204" pitchFamily="34" charset="0"/>
              <a:buChar char="•"/>
              <a:defRPr>
                <a:latin typeface="Corbel" panose="020B0503020204020204" pitchFamily="34" charset="0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200">
                <a:latin typeface="Corbel" panose="020B0503020204020204" pitchFamily="34" charset="0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B495BD8-64BC-4AE0-B09E-0B743680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5095D5-CF54-4B73-A88B-2E207E0900C2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14037ABE-D605-7DC2-CD98-5957AE0F5873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716561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:\Users\msk\Desktop\abstract-blue-backgrounds-24_1920x1200_71465.jpg"/>
          <p:cNvPicPr>
            <a:picLocks noChangeAspect="1" noChangeArrowheads="1"/>
          </p:cNvPicPr>
          <p:nvPr userDrawn="1"/>
        </p:nvPicPr>
        <p:blipFill>
          <a:blip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43700" t="32440"/>
          <a:stretch>
            <a:fillRect/>
          </a:stretch>
        </p:blipFill>
        <p:spPr bwMode="auto">
          <a:xfrm rot="10800000">
            <a:off x="0" y="-1"/>
            <a:ext cx="9144000" cy="61167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1408927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8A4EB-2A1B-B60E-7C34-379AA946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28934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332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638" y="1779588"/>
            <a:ext cx="4079631" cy="3840162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662"/>
            </a:lvl6pPr>
            <a:lvl7pPr>
              <a:defRPr sz="1662"/>
            </a:lvl7pPr>
            <a:lvl8pPr>
              <a:defRPr sz="1662"/>
            </a:lvl8pPr>
            <a:lvl9pPr>
              <a:defRPr sz="1662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432982053"/>
      </p:ext>
    </p:extLst>
  </p:cSld>
  <p:clrMapOvr>
    <a:masterClrMapping/>
  </p:clrMapOvr>
  <p:transition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19BEA91-710F-4DA2-A57A-92029721C1AD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r="6054"/>
          <a:stretch/>
        </p:blipFill>
        <p:spPr>
          <a:xfrm>
            <a:off x="-1256" y="-3606"/>
            <a:ext cx="9144000" cy="792606"/>
          </a:xfrm>
          <a:prstGeom prst="rect">
            <a:avLst/>
          </a:prstGeom>
        </p:spPr>
      </p:pic>
      <p:sp>
        <p:nvSpPr>
          <p:cNvPr id="4137" name="Rectangle 4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0116" y="6560298"/>
            <a:ext cx="117020" cy="1135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 defTabSz="757623" eaLnBrk="0" hangingPunct="0">
              <a:defRPr sz="738">
                <a:solidFill>
                  <a:srgbClr val="000000"/>
                </a:solidFill>
                <a:latin typeface="Arial" charset="0"/>
                <a:ea typeface="굴림" charset="-127"/>
              </a:defRPr>
            </a:lvl1pPr>
          </a:lstStyle>
          <a:p>
            <a:pPr>
              <a:defRPr/>
            </a:pPr>
            <a:fld id="{64B02B1F-C918-4EA9-8A71-4A69BA71DD78}" type="slidenum">
              <a:rPr lang="en-GB" altLang="ko-KR"/>
              <a:pPr>
                <a:defRPr/>
              </a:pPr>
              <a:t>‹#›</a:t>
            </a:fld>
            <a:endParaRPr lang="en-GB" altLang="ko-KR" dirty="0"/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008097E2-E215-16CD-58E7-6BD7499887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71" r:id="rId2"/>
    <p:sldLayoutId id="2147483772" r:id="rId3"/>
    <p:sldLayoutId id="2147483794" r:id="rId4"/>
    <p:sldLayoutId id="2147483773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6FF8754-B9F3-D76F-38C3-B0091EEFC5E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C00000">
                <a:tint val="45000"/>
                <a:satMod val="400000"/>
              </a:srgbClr>
            </a:duotone>
          </a:blip>
          <a:srcRect r="24209"/>
          <a:stretch/>
        </p:blipFill>
        <p:spPr>
          <a:xfrm>
            <a:off x="-1255" y="-3606"/>
            <a:ext cx="7376881" cy="792606"/>
          </a:xfrm>
          <a:custGeom>
            <a:avLst/>
            <a:gdLst>
              <a:gd name="connsiteX0" fmla="*/ 0 w 7376881"/>
              <a:gd name="connsiteY0" fmla="*/ 0 h 792606"/>
              <a:gd name="connsiteX1" fmla="*/ 7376881 w 7376881"/>
              <a:gd name="connsiteY1" fmla="*/ 0 h 792606"/>
              <a:gd name="connsiteX2" fmla="*/ 7335083 w 7376881"/>
              <a:gd name="connsiteY2" fmla="*/ 72101 h 792606"/>
              <a:gd name="connsiteX3" fmla="*/ 6478558 w 7376881"/>
              <a:gd name="connsiteY3" fmla="*/ 773769 h 792606"/>
              <a:gd name="connsiteX4" fmla="*/ 6439960 w 7376881"/>
              <a:gd name="connsiteY4" fmla="*/ 792606 h 792606"/>
              <a:gd name="connsiteX5" fmla="*/ 0 w 7376881"/>
              <a:gd name="connsiteY5" fmla="*/ 792606 h 792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376881" h="792606">
                <a:moveTo>
                  <a:pt x="0" y="0"/>
                </a:moveTo>
                <a:lnTo>
                  <a:pt x="7376881" y="0"/>
                </a:lnTo>
                <a:lnTo>
                  <a:pt x="7335083" y="72101"/>
                </a:lnTo>
                <a:cubicBezTo>
                  <a:pt x="7153136" y="331561"/>
                  <a:pt x="6859280" y="569153"/>
                  <a:pt x="6478558" y="773769"/>
                </a:cubicBezTo>
                <a:lnTo>
                  <a:pt x="6439960" y="792606"/>
                </a:lnTo>
                <a:lnTo>
                  <a:pt x="0" y="792606"/>
                </a:lnTo>
                <a:close/>
              </a:path>
            </a:pathLst>
          </a:custGeom>
        </p:spPr>
      </p:pic>
      <p:sp>
        <p:nvSpPr>
          <p:cNvPr id="10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339971" y="65100"/>
            <a:ext cx="8042031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E501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31" name="Rectangle 10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6455" y="1149000"/>
            <a:ext cx="8016997" cy="48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E3F3E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18900000" algn="ctr" rotWithShape="0">
                    <a:srgbClr val="4B734F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0"/>
            <a:r>
              <a:rPr lang="en-US" altLang="ko-KR" dirty="0"/>
              <a:t>Second level, etc.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9CADA37-7BDD-4B7C-8BAC-B00D343C19E7}"/>
              </a:ext>
            </a:extLst>
          </p:cNvPr>
          <p:cNvCxnSpPr>
            <a:cxnSpLocks/>
          </p:cNvCxnSpPr>
          <p:nvPr userDrawn="1"/>
        </p:nvCxnSpPr>
        <p:spPr>
          <a:xfrm>
            <a:off x="0" y="789000"/>
            <a:ext cx="9144000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7591A48D-7862-4BD3-BDC0-4940E5CAC71D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34" b="31683"/>
          <a:stretch/>
        </p:blipFill>
        <p:spPr>
          <a:xfrm>
            <a:off x="7452032" y="396649"/>
            <a:ext cx="1495572" cy="276754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617EA2C-9563-3A9C-CD52-0AE019419479}"/>
              </a:ext>
            </a:extLst>
          </p:cNvPr>
          <p:cNvSpPr/>
          <p:nvPr userDrawn="1"/>
        </p:nvSpPr>
        <p:spPr>
          <a:xfrm rot="10800000">
            <a:off x="695077" y="6262962"/>
            <a:ext cx="8448923" cy="46038"/>
          </a:xfrm>
          <a:prstGeom prst="rect">
            <a:avLst/>
          </a:prstGeom>
          <a:gradFill flip="none" rotWithShape="1">
            <a:gsLst>
              <a:gs pos="0">
                <a:srgbClr val="9A1F4E"/>
              </a:gs>
              <a:gs pos="25000">
                <a:srgbClr val="9A1F4E"/>
              </a:gs>
              <a:gs pos="7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B15DAD-E0C6-A00C-DFBE-C16F6DB13731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52" y="6399033"/>
            <a:ext cx="1263900" cy="35829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4BDD22-E678-EB87-D6D2-EB743F53AA76}"/>
              </a:ext>
            </a:extLst>
          </p:cNvPr>
          <p:cNvSpPr txBox="1">
            <a:spLocks/>
          </p:cNvSpPr>
          <p:nvPr userDrawn="1"/>
        </p:nvSpPr>
        <p:spPr>
          <a:xfrm>
            <a:off x="8077200" y="6459538"/>
            <a:ext cx="949569" cy="328612"/>
          </a:xfrm>
          <a:prstGeom prst="rect">
            <a:avLst/>
          </a:prstGeom>
        </p:spPr>
        <p:txBody>
          <a:bodyPr/>
          <a:lstStyle>
            <a:lvl1pPr algn="r">
              <a:defRPr sz="1100">
                <a:solidFill>
                  <a:schemeClr val="tx1">
                    <a:alpha val="50000"/>
                  </a:schemeClr>
                </a:solidFill>
                <a:latin typeface="Arial Black" pitchFamily="34" charset="0"/>
                <a:ea typeface="HY헤드라인M" pitchFamily="18" charset="-127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90FC0BDF-B890-41DA-9838-AE8FE480B3D1}" type="slidenum">
              <a:rPr kumimoji="0" lang="ko-KR" altLang="en-US" sz="1200" b="0" smtClean="0">
                <a:solidFill>
                  <a:srgbClr val="002060"/>
                </a:solidFill>
                <a:latin typeface="+mn-ea"/>
                <a:ea typeface="+mn-ea"/>
              </a:rPr>
              <a:pPr fontAlgn="auto"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0" lang="en-US" altLang="ko-KR" sz="1200" b="0" dirty="0">
              <a:solidFill>
                <a:srgbClr val="00206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4066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</p:sldLayoutIdLst>
  <p:transition/>
  <p:hf hdr="0" ftr="0" dt="0"/>
  <p:txStyles>
    <p:titleStyle>
      <a:lvl1pPr algn="l" defTabSz="597892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orbel" panose="020B0503020204020204" pitchFamily="34" charset="0"/>
          <a:ea typeface="+mj-ea"/>
          <a:cs typeface="+mj-cs"/>
        </a:defRPr>
      </a:lvl1pPr>
      <a:lvl2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2pPr>
      <a:lvl3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3pPr>
      <a:lvl4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4pPr>
      <a:lvl5pPr algn="l" defTabSz="597892" rtl="0" eaLnBrk="0" fontAlgn="base" hangingPunct="0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5pPr>
      <a:lvl6pPr marL="422041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6pPr>
      <a:lvl7pPr marL="844083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7pPr>
      <a:lvl8pPr marL="1266124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8pPr>
      <a:lvl9pPr marL="1688165" algn="l" defTabSz="597892" rtl="0" fontAlgn="base">
        <a:spcBef>
          <a:spcPct val="0"/>
        </a:spcBef>
        <a:spcAft>
          <a:spcPct val="0"/>
        </a:spcAft>
        <a:defRPr sz="2031" b="1">
          <a:solidFill>
            <a:schemeClr val="bg1"/>
          </a:solidFill>
          <a:latin typeface="Arial" charset="0"/>
        </a:defRPr>
      </a:lvl9pPr>
    </p:titleStyle>
    <p:bodyStyle>
      <a:lvl1pPr marL="241795" indent="-241795" algn="l" defTabSz="597892" rtl="0" eaLnBrk="0" fontAlgn="base" hangingPunct="0">
        <a:lnSpc>
          <a:spcPct val="150000"/>
        </a:lnSpc>
        <a:spcBef>
          <a:spcPct val="115000"/>
        </a:spcBef>
        <a:spcAft>
          <a:spcPct val="0"/>
        </a:spcAft>
        <a:buClr>
          <a:schemeClr val="tx2"/>
        </a:buClr>
        <a:buFont typeface="Wingdings" pitchFamily="2" charset="2"/>
        <a:buChar char="n"/>
        <a:defRPr sz="1600" b="1">
          <a:solidFill>
            <a:srgbClr val="000000"/>
          </a:solidFill>
          <a:latin typeface="Corbel" panose="020B0503020204020204" pitchFamily="34" charset="0"/>
          <a:ea typeface="+mn-ea"/>
          <a:cs typeface="+mn-cs"/>
        </a:defRPr>
      </a:lvl1pPr>
      <a:lvl2pPr marL="410318" indent="-167058" algn="l" defTabSz="597892" rtl="0" eaLnBrk="0" fontAlgn="base" hangingPunct="0">
        <a:lnSpc>
          <a:spcPct val="150000"/>
        </a:lnSpc>
        <a:spcBef>
          <a:spcPct val="5000"/>
        </a:spcBef>
        <a:spcAft>
          <a:spcPct val="0"/>
        </a:spcAft>
        <a:buClr>
          <a:schemeClr val="tx2"/>
        </a:buClr>
        <a:buFont typeface="맑은 고딕" panose="020B0503020000020004" pitchFamily="50" charset="-127"/>
        <a:buChar char="√"/>
        <a:defRPr sz="1400">
          <a:solidFill>
            <a:srgbClr val="000000"/>
          </a:solidFill>
          <a:latin typeface="Corbel" panose="020B0503020204020204" pitchFamily="34" charset="0"/>
        </a:defRPr>
      </a:lvl2pPr>
      <a:lvl3pPr marL="580307" indent="-168524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sz="1200">
          <a:solidFill>
            <a:srgbClr val="000000"/>
          </a:solidFill>
          <a:latin typeface="Corbel" panose="020B0503020204020204" pitchFamily="34" charset="0"/>
        </a:defRPr>
      </a:lvl3pPr>
      <a:lvl4pPr marL="748831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chemeClr val="tx2"/>
        </a:buClr>
        <a:buFont typeface="Arial" pitchFamily="34" charset="0"/>
        <a:buChar char="-"/>
        <a:defRPr sz="1200">
          <a:solidFill>
            <a:srgbClr val="000000"/>
          </a:solidFill>
          <a:latin typeface="Corbel" panose="020B0503020204020204" pitchFamily="34" charset="0"/>
        </a:defRPr>
      </a:lvl4pPr>
      <a:lvl5pPr marL="917354" indent="-167058" algn="l" defTabSz="597892" rtl="0" eaLnBrk="0" fontAlgn="base" hangingPunct="0">
        <a:lnSpc>
          <a:spcPct val="150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Corbel" panose="020B0503020204020204" pitchFamily="34" charset="0"/>
        </a:defRPr>
      </a:lvl5pPr>
      <a:lvl6pPr marL="1339395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6pPr>
      <a:lvl7pPr marL="1761436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7pPr>
      <a:lvl8pPr marL="2183478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8pPr>
      <a:lvl9pPr marL="2605519" indent="-167058" algn="l" defTabSz="597892" rtl="0" fontAlgn="base">
        <a:lnSpc>
          <a:spcPct val="108000"/>
        </a:lnSpc>
        <a:spcBef>
          <a:spcPct val="8000"/>
        </a:spcBef>
        <a:spcAft>
          <a:spcPct val="0"/>
        </a:spcAft>
        <a:buClr>
          <a:srgbClr val="F37121"/>
        </a:buClr>
        <a:buFont typeface="Wingdings" pitchFamily="2" charset="2"/>
        <a:buChar char="§"/>
        <a:defRPr sz="1292">
          <a:solidFill>
            <a:srgbClr val="000000"/>
          </a:solidFill>
          <a:latin typeface="+mn-lt"/>
        </a:defRPr>
      </a:lvl9pPr>
    </p:bodyStyle>
    <p:otherStyle>
      <a:defPPr>
        <a:defRPr lang="ko-KR"/>
      </a:defPPr>
      <a:lvl1pPr marL="0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1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t>지능형 IoT 네트워크 트래픽 분류 모델 성능 향상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t>결과보고서</a:t>
            </a:r>
          </a:p>
          <a:p/>
          <a:p>
            <a:r>
              <a:t>학번: 학번</a:t>
            </a:r>
          </a:p>
          <a:p>
            <a:r>
              <a:t>이름: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과제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목적: VPN/Non-VPN 등 다양한 네트워크 트래픽 분류 성능 향상</a:t>
            </a:r>
          </a:p>
          <a:p>
            <a:r>
              <a:t>목표: 딥러닝 기반 모델 정확도 성능 향상 (기존 0.4990)</a:t>
            </a:r>
          </a:p>
          <a:p>
            <a:r>
              <a:t>데이터셋: ISCX VPN-NonVPN dataset (Time-based features)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데이터셋 및 클래스 분포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- 특성(Feature) 기준 중복 및</a:t>
            </a:r>
          </a:p>
          <a:p>
            <a:pPr>
              <a:defRPr sz="1600"/>
            </a:pPr>
            <a:r>
              <a:t>  라벨 충돌 (41개 그룹) 확인</a:t>
            </a:r>
          </a:p>
          <a:p>
            <a:pPr>
              <a:defRPr sz="1600"/>
            </a:pPr>
            <a:r>
              <a:t>- 완전 중복 행 제거:</a:t>
            </a:r>
          </a:p>
          <a:p>
            <a:pPr>
              <a:defRPr sz="1600"/>
            </a:pPr>
            <a:r>
              <a:t>  18758 -&gt; 18074 건으로 감소</a:t>
            </a:r>
          </a:p>
          <a:p>
            <a:pPr>
              <a:defRPr sz="1600"/>
            </a:pPr>
            <a:r>
              <a:t>- VPN / Non-VPN 다중 클래스</a:t>
            </a:r>
          </a:p>
          <a:p>
            <a:pPr>
              <a:defRPr sz="1600"/>
            </a:pPr>
            <a:r>
              <a:t>  분포 불균형 파악</a:t>
            </a:r>
          </a:p>
        </p:txBody>
      </p:sp>
      <p:pic>
        <p:nvPicPr>
          <p:cNvPr id="4" name="Picture 3" descr="figur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27199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데이터 전처리 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정제: Byte string 디코딩 및 완전 동일 행 제거</a:t>
            </a:r>
          </a:p>
          <a:p>
            <a:r>
              <a:t>(18758 -&gt; 18074)</a:t>
            </a:r>
          </a:p>
          <a:p>
            <a:r>
              <a:t>매핑: np.unique 기반 딕셔너리로</a:t>
            </a:r>
          </a:p>
          <a:p>
            <a:r>
              <a:t>다중 클래스 라벨 매핑</a:t>
            </a:r>
          </a:p>
          <a:p>
            <a:r>
              <a:t>스케일링: Train 셋에만 fit한</a:t>
            </a:r>
          </a:p>
          <a:p>
            <a:r>
              <a:t>StandardScaler 적용</a:t>
            </a:r>
          </a:p>
          <a:p>
            <a:r>
              <a:t>분할: Train 60%, Validation 20%,</a:t>
            </a:r>
          </a:p>
          <a:p>
            <a:r>
              <a:t>Test 20% 비율로 Stratified split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구조: Dense(64) -&gt; Dense(32) -&gt; Dense(num_classes)</a:t>
            </a:r>
          </a:p>
          <a:p>
            <a:pPr>
              <a:defRPr sz="1600"/>
            </a:pPr>
            <a:r>
              <a:t>컴파일: Adam, Sparse Categorical Crossentropy</a:t>
            </a:r>
          </a:p>
          <a:p>
            <a:pPr>
              <a:defRPr sz="1600"/>
            </a:pPr>
            <a:r>
              <a:t>결과: Accuracy 0.4990, F1 0.3611 수준</a:t>
            </a:r>
          </a:p>
          <a:p>
            <a:pPr>
              <a:defRPr sz="1600"/>
            </a:pPr>
            <a:r>
              <a:t>(본 노트북 재현 얕은 모델, 강의 원본 수치 미확인)</a:t>
            </a:r>
          </a:p>
          <a:p>
            <a:pPr>
              <a:defRPr sz="1600"/>
            </a:pPr>
            <a:r>
              <a:t>스케일링·분할은 동일, 학습 조건은 다름</a:t>
            </a:r>
          </a:p>
          <a:p>
            <a:pPr>
              <a:defRPr sz="1600"/>
            </a:pPr>
            <a:r>
              <a:t>(Base 15epoch·콜백없음 / Improved ≤50epoch+ES+LR스케줄)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기준 모델(Baseline) 학습 결과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모델 성능 개선 시도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50000"/>
          <a:ext cx="82296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58296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단계 (Step)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모델 구성 (Configuration)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Step 1 (Base DL)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Dense(64) -&gt; Dense(32) -&gt; Dense(N)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Step 2 (Expansion)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Dense(256) -&gt; Dense(128) -&gt; Dense(64) -&gt; Dense(N)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Step 3 (Dropout)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Dropout(0.3), Dropout(0.2) 추가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Step 4 (Callbacks)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EarlyStopping(10), ReduceLROnPlateau(5) 적용 및 50 epochs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100000"/>
            <a:ext cx="82296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def build_baseline():</a:t>
            </a:r>
          </a:p>
          <a:p>
            <a:pPr>
              <a:defRPr sz="1300">
                <a:latin typeface="Consolas"/>
              </a:defRPr>
            </a:pPr>
            <a:r>
              <a:t>    model = Sequential([</a:t>
            </a:r>
          </a:p>
          <a:p>
            <a:pPr>
              <a:defRPr sz="1300">
                <a:latin typeface="Consolas"/>
              </a:defRPr>
            </a:pPr>
            <a:r>
              <a:t>        Dense(64, activation='relu', input_shape=(X_train.shape[1],)),</a:t>
            </a:r>
          </a:p>
          <a:p>
            <a:pPr>
              <a:defRPr sz="1300">
                <a:latin typeface="Consolas"/>
              </a:defRPr>
            </a:pPr>
            <a:r>
              <a:t>        Dense(32, activation='relu'),</a:t>
            </a:r>
          </a:p>
          <a:p>
            <a:pPr>
              <a:defRPr sz="1300">
                <a:latin typeface="Consolas"/>
              </a:defRPr>
            </a:pPr>
            <a:r>
              <a:t>        Dense(len(unique_classes), activation='softmax')</a:t>
            </a:r>
          </a:p>
          <a:p>
            <a:pPr>
              <a:defRPr sz="1300">
                <a:latin typeface="Consolas"/>
              </a:defRPr>
            </a:pPr>
            <a:r>
              <a:t>    ])</a:t>
            </a:r>
          </a:p>
          <a:p>
            <a:pPr>
              <a:defRPr sz="1300">
                <a:latin typeface="Consolas"/>
              </a:defRPr>
            </a:pPr>
            <a:r>
              <a:t>    model.compile(optimizer='adam',</a:t>
            </a:r>
          </a:p>
          <a:p>
            <a:pPr>
              <a:defRPr sz="1300">
                <a:latin typeface="Consolas"/>
              </a:defRPr>
            </a:pPr>
            <a:r>
              <a:t>                  loss='sparse_categorical_crossentropy',</a:t>
            </a:r>
          </a:p>
          <a:p>
            <a:pPr>
              <a:defRPr sz="1300">
                <a:latin typeface="Consolas"/>
              </a:defRPr>
            </a:pPr>
            <a:r>
              <a:t>                  metrics=['accuracy'])</a:t>
            </a:r>
          </a:p>
          <a:p>
            <a:pPr>
              <a:defRPr sz="1300">
                <a:latin typeface="Consolas"/>
              </a:defRPr>
            </a:pPr>
            <a:r>
              <a:t>    return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핵심 코드 1 (모델 구조 및 콜백)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latin typeface="Consolas"/>
              </a:defRPr>
            </a:pPr>
            <a:r>
              <a:t>def build_improved_2():</a:t>
            </a:r>
          </a:p>
          <a:p>
            <a:pPr>
              <a:defRPr sz="1300">
                <a:latin typeface="Consolas"/>
              </a:defRPr>
            </a:pPr>
            <a:r>
              <a:t>    model = Sequential([</a:t>
            </a:r>
          </a:p>
          <a:p>
            <a:pPr>
              <a:defRPr sz="1300">
                <a:latin typeface="Consolas"/>
              </a:defRPr>
            </a:pPr>
            <a:r>
              <a:t>        Dense(256, activation='relu', input_shape=(X_train.shape[1],)),</a:t>
            </a:r>
          </a:p>
          <a:p>
            <a:pPr>
              <a:defRPr sz="1300">
                <a:latin typeface="Consolas"/>
              </a:defRPr>
            </a:pPr>
            <a:r>
              <a:t>        Dropout(0.3),</a:t>
            </a:r>
          </a:p>
          <a:p>
            <a:pPr>
              <a:defRPr sz="1300">
                <a:latin typeface="Consolas"/>
              </a:defRPr>
            </a:pPr>
            <a:r>
              <a:t>        Dense(128, activation='relu'),</a:t>
            </a:r>
          </a:p>
          <a:p>
            <a:pPr>
              <a:defRPr sz="1300">
                <a:latin typeface="Consolas"/>
              </a:defRPr>
            </a:pPr>
            <a:r>
              <a:t>        Dropout(0.2),</a:t>
            </a:r>
          </a:p>
          <a:p>
            <a:pPr>
              <a:defRPr sz="1300">
                <a:latin typeface="Consolas"/>
              </a:defRPr>
            </a:pPr>
            <a:r>
              <a:t>        Dense(64, activation='relu'),</a:t>
            </a:r>
          </a:p>
          <a:p>
            <a:pPr>
              <a:defRPr sz="1300">
                <a:latin typeface="Consolas"/>
              </a:defRPr>
            </a:pPr>
            <a:r>
              <a:t>        Dense(len(unique_classes), activation='softmax')</a:t>
            </a:r>
          </a:p>
          <a:p>
            <a:pPr>
              <a:defRPr sz="1300">
                <a:latin typeface="Consolas"/>
              </a:defRPr>
            </a:pPr>
            <a:r>
              <a:t>    ])</a:t>
            </a:r>
          </a:p>
          <a:p>
            <a:pPr>
              <a:defRPr sz="1300">
                <a:latin typeface="Consolas"/>
              </a:defRPr>
            </a:pPr>
            <a:r>
              <a:t>    model.compile(optimizer='adam',</a:t>
            </a:r>
          </a:p>
          <a:p>
            <a:pPr>
              <a:defRPr sz="1300">
                <a:latin typeface="Consolas"/>
              </a:defRPr>
            </a:pPr>
            <a:r>
              <a:t>                  loss='sparse_categorical_crossentropy',</a:t>
            </a:r>
          </a:p>
          <a:p>
            <a:pPr>
              <a:defRPr sz="1300">
                <a:latin typeface="Consolas"/>
              </a:defRPr>
            </a:pPr>
            <a:r>
              <a:t>                  metrics=['accuracy'])</a:t>
            </a:r>
          </a:p>
          <a:p>
            <a:pPr>
              <a:defRPr sz="1300">
                <a:latin typeface="Consolas"/>
              </a:defRPr>
            </a:pPr>
            <a:r>
              <a:t>    return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핵심 코드 2 (학습 및 평가)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00000"/>
            <a:ext cx="82296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seeds = [42, 1004, 2026]</a:t>
            </a:r>
          </a:p>
          <a:p>
            <a:pPr>
              <a:defRPr sz="1200">
                <a:latin typeface="Consolas"/>
              </a:defRPr>
            </a:pPr>
            <a:r>
              <a:t>acc_list, f1_list = [], []</a:t>
            </a:r>
          </a:p>
          <a:p>
            <a:pPr>
              <a:defRPr sz="1200">
                <a:latin typeface="Consolas"/>
              </a:defRPr>
            </a:pPr>
            <a:r>
              <a:t>...</a:t>
            </a:r>
          </a:p>
          <a:p>
            <a:pPr>
              <a:defRPr sz="1200">
                <a:latin typeface="Consolas"/>
              </a:defRPr>
            </a:pPr>
            <a:r>
              <a:t>for s in seeds:</a:t>
            </a:r>
          </a:p>
          <a:p>
            <a:pPr>
              <a:defRPr sz="1200">
                <a:latin typeface="Consolas"/>
              </a:defRPr>
            </a:pPr>
            <a:r>
              <a:t>    tf.keras.utils.set_random_seed(s)</a:t>
            </a:r>
          </a:p>
          <a:p>
            <a:pPr>
              <a:defRPr sz="1200">
                <a:latin typeface="Consolas"/>
              </a:defRPr>
            </a:pPr>
            <a:r>
              <a:t>    tf.config.experimental.enable_op_determinism()</a:t>
            </a:r>
          </a:p>
          <a:p>
            <a:pPr>
              <a:defRPr sz="1200">
                <a:latin typeface="Consolas"/>
              </a:defRPr>
            </a:pPr>
            <a:r>
              <a:t>    model = build_improved_2()</a:t>
            </a:r>
          </a:p>
          <a:p>
            <a:pPr>
              <a:defRPr sz="1200">
                <a:latin typeface="Consolas"/>
              </a:defRPr>
            </a:pPr>
            <a:r>
              <a:t>    es = EarlyStopping(monitor='val_loss', patience=10, restore_best_weights=True)</a:t>
            </a:r>
          </a:p>
          <a:p>
            <a:pPr>
              <a:defRPr sz="1200">
                <a:latin typeface="Consolas"/>
              </a:defRPr>
            </a:pPr>
            <a:r>
              <a:t>    lr = ReduceLROnPlateau(monitor='val_loss', factor=0.5, patience=5)</a:t>
            </a:r>
          </a:p>
          <a:p>
            <a:pPr>
              <a:defRPr sz="1200">
                <a:latin typeface="Consolas"/>
              </a:defRPr>
            </a:pPr>
            <a:r>
              <a:t>    history = model.fit(X_train_scaled, y_train, validation_data=(X_val_scaled, y_val),</a:t>
            </a:r>
          </a:p>
          <a:p>
            <a:pPr>
              <a:defRPr sz="1200">
                <a:latin typeface="Consolas"/>
              </a:defRPr>
            </a:pPr>
            <a:r>
              <a:t>                        epochs=50, batch_size=128, callbacks=[es, lr], verbose=0)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00000"/>
            <a:ext cx="82296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latin typeface="Consolas"/>
              </a:defRPr>
            </a:pPr>
            <a:r>
              <a:t>    pred_test = np.argmax(model.predict(X_test_scaled, verbose=0), axis=1)</a:t>
            </a:r>
          </a:p>
          <a:p>
            <a:pPr>
              <a:defRPr sz="1200">
                <a:latin typeface="Consolas"/>
              </a:defRPr>
            </a:pPr>
            <a:r>
              <a:t>    acc = accuracy_score(y_test, pred_test)</a:t>
            </a:r>
          </a:p>
          <a:p>
            <a:pPr>
              <a:defRPr sz="1200">
                <a:latin typeface="Consolas"/>
              </a:defRPr>
            </a:pPr>
            <a:r>
              <a:t>    f1 = f1_score(y_test, pred_test, average='macro')</a:t>
            </a:r>
          </a:p>
          <a:p>
            <a:pPr>
              <a:defRPr sz="1200">
                <a:latin typeface="Consolas"/>
              </a:defRPr>
            </a:pPr>
            <a:r>
              <a:t>    acc_list.append(acc)</a:t>
            </a:r>
          </a:p>
          <a:p>
            <a:pPr>
              <a:defRPr sz="1200">
                <a:latin typeface="Consolas"/>
              </a:defRPr>
            </a:pPr>
            <a:r>
              <a:t>    f1_list.append(f1)</a:t>
            </a:r>
          </a:p>
          <a:p>
            <a:pPr>
              <a:defRPr sz="1200">
                <a:latin typeface="Consolas"/>
              </a:defRPr>
            </a:pPr>
            <a:r>
              <a:t>    if s == 42:</a:t>
            </a:r>
          </a:p>
          <a:p>
            <a:pPr>
              <a:defRPr sz="1200">
                <a:latin typeface="Consolas"/>
              </a:defRPr>
            </a:pPr>
            <a:r>
              <a:t>        ...</a:t>
            </a:r>
          </a:p>
          <a:p>
            <a:pPr>
              <a:defRPr sz="1200">
                <a:latin typeface="Consolas"/>
              </a:defRPr>
            </a:pPr>
            <a:r>
              <a:t>...</a:t>
            </a:r>
          </a:p>
          <a:p>
            <a:pPr>
              <a:defRPr sz="1200">
                <a:latin typeface="Consolas"/>
              </a:defRPr>
            </a:pPr>
            <a:r>
              <a:t>acc_mean, acc_std = np.mean(acc_list), np.std(acc_list, ddof=1)</a:t>
            </a:r>
          </a:p>
          <a:p>
            <a:pPr>
              <a:defRPr sz="1200">
                <a:latin typeface="Consolas"/>
              </a:defRPr>
            </a:pPr>
            <a:r>
              <a:t>f1_mean, f1_std = np.mean(f1_list), np.std(f1_list, ddof=1)</a:t>
            </a:r>
          </a:p>
          <a:p>
            <a:pPr>
              <a:defRPr sz="1150">
                <a:latin typeface="Consolas"/>
              </a:defRPr>
            </a:pPr>
            <a:r>
              <a:t>print(f"[Test 3-Run] Acc = {acc_mean:.4f} ± {acc_std:.4f}, F1 = {f1_mean:.4f} ± {f1_std:.4f}")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검증셋(Validation) 기준</a:t>
            </a:r>
          </a:p>
          <a:p>
            <a:pPr>
              <a:defRPr sz="1400"/>
            </a:pPr>
            <a:r>
              <a:t>Ablation 단계별 Accuracy 변화:</a:t>
            </a:r>
          </a:p>
          <a:p>
            <a:pPr>
              <a:defRPr sz="1400"/>
            </a:pPr>
            <a:r>
              <a:t>Step 1 (Base DL): 0.5109</a:t>
            </a:r>
          </a:p>
          <a:p>
            <a:pPr>
              <a:defRPr sz="1400"/>
            </a:pPr>
            <a:r>
              <a:t>Step 2 (Width+Depth): 0.5842</a:t>
            </a:r>
          </a:p>
          <a:p>
            <a:pPr>
              <a:defRPr sz="1400"/>
            </a:pPr>
            <a:r>
              <a:t>Step 3 (Dropout): 0.5651</a:t>
            </a:r>
          </a:p>
          <a:p>
            <a:pPr>
              <a:defRPr sz="1400"/>
            </a:pPr>
            <a:r>
              <a:t>Step 4 (Callbacks+Epoch50): 0.6119</a:t>
            </a:r>
          </a:p>
          <a:p>
            <a:pPr>
              <a:defRPr sz="1400"/>
            </a:pPr>
            <a:r>
              <a:t>- Step 3 (Dropout) 적용 시</a:t>
            </a:r>
          </a:p>
          <a:p>
            <a:pPr>
              <a:defRPr sz="1400"/>
            </a:pPr>
            <a:r>
              <a:t>  검증 성능 일부 하락</a:t>
            </a:r>
          </a:p>
          <a:p>
            <a:pPr>
              <a:defRPr sz="1400"/>
            </a:pPr>
            <a:r>
              <a:t>- Step 4 콜백 및 에폭(15-&gt;50)</a:t>
            </a:r>
          </a:p>
          <a:p>
            <a:pPr>
              <a:defRPr sz="1400"/>
            </a:pPr>
            <a:r>
              <a:t>  학습 예산 증가 동시 적용에</a:t>
            </a:r>
          </a:p>
          <a:p>
            <a:pPr>
              <a:defRPr sz="1400"/>
            </a:pPr>
            <a:r>
              <a:t>  따른 성능 향상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371600"/>
            <a:ext cx="4572000" cy="30221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Ablation 단계별 검증 성능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학습 곡선 (Learning Curves)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- 50 epoch 전부 수행, val_loss가 끝까지 하락해 ES 미발동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1371600"/>
            <a:ext cx="4114800" cy="27199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0" y="1371600"/>
            <a:ext cx="4114800" cy="27199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200" b="1"/>
            </a:pPr>
            <a:r>
              <a:t>혼동 행렬 (Confusion Matrix)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/>
            </a:pPr>
            <a:r>
              <a:t>- 구조 개선·콜백·학습 에폭 확대(15→50)로 소수 클래스 Recall 개선</a:t>
            </a:r>
          </a:p>
          <a:p>
            <a:pPr>
              <a:defRPr sz="1350"/>
            </a:pPr>
            <a:r>
              <a:t>- 단, VPN-BROWSING recall은 하락 (Base 369/500=0.738 → Improved 277/500=0.554)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4114800" cy="354931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1371600"/>
            <a:ext cx="4114800" cy="35493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/>
            </a:pPr>
            <a:r>
              <a:t>결론: RF 대비 한계 존재.</a:t>
            </a:r>
          </a:p>
          <a:p>
            <a:pPr>
              <a:defRPr sz="1700"/>
            </a:pPr>
            <a:r>
              <a:t>단, 격차는 36.24%p -&gt; 평균 26.27%p (단일 26.11%p)로 축소됨.</a:t>
            </a:r>
          </a:p>
          <a:p>
            <a:pPr>
              <a:defRPr sz="1700"/>
            </a:pPr>
            <a:r>
              <a:t>(Acc 향상폭: +0.0997, F1 향상폭: +0.1512)</a:t>
            </a:r>
          </a:p>
          <a:p>
            <a:pPr>
              <a:defRPr sz="1700"/>
            </a:pPr>
            <a:r>
              <a:t>한계: 특징 기준 중복/상충 라벨(41개 그룹) 존재 등</a:t>
            </a:r>
          </a:p>
          <a:p>
            <a:pPr>
              <a:defRPr sz="1500"/>
            </a:pPr>
            <a:r>
              <a:t>* 분할: random_state=42 고정, 3-Run 평가(n=3, ddof=1)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36576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r>
                        <a:t>Setting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F1-Score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Baseline 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0.3611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Improved 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0.5987 ± 0.0035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0.5123 ± 0.0090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 및 한계점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00000"/>
            <a:ext cx="82296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논문: Draper-Gil et al.,</a:t>
            </a:r>
          </a:p>
          <a:p>
            <a:r>
              <a:t>  Characterization of encrypted and vpn traffic</a:t>
            </a:r>
          </a:p>
          <a:p>
            <a:r>
              <a:t>  using time-related features, ICISSP 2016</a:t>
            </a:r>
          </a:p>
          <a:p>
            <a:r>
              <a:t>- 미러: https://github.com/Muzafferrr/</a:t>
            </a:r>
          </a:p>
          <a:p>
            <a:r>
              <a:t>  DL-ML-with-Brasil-VPN-NON-VPN-Dataset</a:t>
            </a:r>
          </a:p>
          <a:p>
            <a:r>
              <a:t>- ISCX VPN-nonVPN 2016 Dataset (UNB)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t>참고문헌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파랑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rgbClr val="00C0C0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9D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37121"/>
        </a:accent1>
        <a:accent2>
          <a:srgbClr val="FFBC17"/>
        </a:accent2>
        <a:accent3>
          <a:srgbClr val="FFFFFF"/>
        </a:accent3>
        <a:accent4>
          <a:srgbClr val="000000"/>
        </a:accent4>
        <a:accent5>
          <a:srgbClr val="F8BBAB"/>
        </a:accent5>
        <a:accent6>
          <a:srgbClr val="E7AA14"/>
        </a:accent6>
        <a:hlink>
          <a:srgbClr val="0CA8CA"/>
        </a:hlink>
        <a:folHlink>
          <a:srgbClr val="B1A79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Office PowerPoint</Application>
  <PresentationFormat>화면 슬라이드 쇼(4:3)</PresentationFormat>
  <Paragraphs>101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지능형 IoT 네트워크 트래픽 분류 모델 성능 향상</vt:lpstr>
      <vt:lpstr>과제 개요</vt:lpstr>
      <vt:lpstr>데이터셋 및 클래스 분포</vt:lpstr>
      <vt:lpstr>데이터 전처리 과정</vt:lpstr>
      <vt:lpstr>기준 모델(Baseline) 학습 결과</vt:lpstr>
      <vt:lpstr>모델 성능 개선 시도</vt:lpstr>
      <vt:lpstr>핵심 코드 1 (모델 구조 및 콜백)</vt:lpstr>
      <vt:lpstr>핵심 코드 2 (학습 및 평가)</vt:lpstr>
      <vt:lpstr>Ablation 단계별 검증 성능</vt:lpstr>
      <vt:lpstr>학습 곡선 (Learning Curves)</vt:lpstr>
      <vt:lpstr>혼동 행렬 (Confusion Matrix)</vt:lpstr>
      <vt:lpstr>결론 및 한계점</vt:lpstr>
      <vt:lpstr>참고문헌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지능형 IoT 네트워크 트래픽 분류 모델 성능 향상</dc:title>
  <dc:creator>Student</dc:creator>
  <cp:lastModifiedBy>Student</cp:lastModifiedBy>
</cp:coreProperties>
</file>