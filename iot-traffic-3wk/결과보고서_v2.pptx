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384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6167"/>
    <a:srgbClr val="27AE60"/>
    <a:srgbClr val="F65810"/>
    <a:srgbClr val="0E6EC5"/>
    <a:srgbClr val="8E5BB5"/>
    <a:srgbClr val="3B6CA8"/>
    <a:srgbClr val="13294B"/>
    <a:srgbClr val="E6E9E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375" y="57"/>
      </p:cViewPr>
      <p:guideLst>
        <p:guide orient="horz" pos="384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84AAFC-8AEA-4DB2-B7CE-8CA239B69806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82B68B-7063-45B5-A3CB-5DBAE6C11B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3257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에이투지체 4 Regular" pitchFamily="2" charset="-127"/>
        <a:ea typeface="에이투지체 4 Regular" pitchFamily="2" charset="-127"/>
        <a:cs typeface="+mn-cs"/>
      </a:defRPr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microsoft.com/office/2007/relationships/hdphoto" Target="../media/hdphoto1.wdp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페인팅, 예술, 다채로움, 핑크이(가) 표시된 사진  자동 생성된 설명">
            <a:extLst>
              <a:ext uri="{FF2B5EF4-FFF2-40B4-BE49-F238E27FC236}">
                <a16:creationId xmlns:a16="http://schemas.microsoft.com/office/drawing/2014/main" id="{F74ED37A-FB23-BC82-C907-B5E2D68622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9792" t="37759" r="46441" b="3687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AE08A93F-2CC2-42DE-2DCD-A5C00A14AABE}"/>
              </a:ext>
            </a:extLst>
          </p:cNvPr>
          <p:cNvSpPr/>
          <p:nvPr userDrawn="1"/>
        </p:nvSpPr>
        <p:spPr>
          <a:xfrm>
            <a:off x="0" y="1"/>
            <a:ext cx="9144000" cy="6857999"/>
          </a:xfrm>
          <a:prstGeom prst="rect">
            <a:avLst/>
          </a:prstGeom>
          <a:gradFill flip="none" rotWithShape="1">
            <a:gsLst>
              <a:gs pos="0">
                <a:srgbClr val="E6E9ED"/>
              </a:gs>
              <a:gs pos="33000">
                <a:srgbClr val="E6E9ED">
                  <a:alpha val="80000"/>
                </a:srgbClr>
              </a:gs>
              <a:gs pos="67000">
                <a:srgbClr val="E6E9ED">
                  <a:alpha val="70000"/>
                </a:srgbClr>
              </a:gs>
              <a:gs pos="100000">
                <a:srgbClr val="E6E9ED">
                  <a:alpha val="5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에이투지체 4 Regular" pitchFamily="2" charset="-127"/>
              <a:ea typeface="에이투지체 4 Regular" pitchFamily="2" charset="-127"/>
            </a:endParaRPr>
          </a:p>
        </p:txBody>
      </p:sp>
      <p:pic>
        <p:nvPicPr>
          <p:cNvPr id="19" name="bg object 19"/>
          <p:cNvPicPr/>
          <p:nvPr userDrawn="1"/>
        </p:nvPicPr>
        <p:blipFill>
          <a:blip r:embed="rId4" cstate="print"/>
          <a:stretch>
            <a:fillRect/>
          </a:stretch>
        </p:blipFill>
        <p:spPr>
          <a:xfrm>
            <a:off x="7216816" y="6485174"/>
            <a:ext cx="1850984" cy="270119"/>
          </a:xfrm>
          <a:prstGeom prst="rect">
            <a:avLst/>
          </a:prstGeom>
        </p:spPr>
      </p:pic>
      <p:pic>
        <p:nvPicPr>
          <p:cNvPr id="23" name="bg object 20" descr="NATIONAL UNIVERSITY&#10;&#10;AI 생성 콘텐츠는 정확하지 않을 수 있습니다.">
            <a:extLst>
              <a:ext uri="{FF2B5EF4-FFF2-40B4-BE49-F238E27FC236}">
                <a16:creationId xmlns:a16="http://schemas.microsoft.com/office/drawing/2014/main" id="{DB6F16FB-8BE9-55C2-1A0F-EC558EB0A488}"/>
              </a:ext>
            </a:extLst>
          </p:cNvPr>
          <p:cNvPicPr/>
          <p:nvPr userDrawn="1"/>
        </p:nvPicPr>
        <p:blipFill>
          <a:blip r:embed="rId5"/>
          <a:stretch/>
        </p:blipFill>
        <p:spPr>
          <a:xfrm>
            <a:off x="76200" y="6408154"/>
            <a:ext cx="1371600" cy="388018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96AA5E54-7717-5CA9-726A-B562E2FAF12C}"/>
              </a:ext>
            </a:extLst>
          </p:cNvPr>
          <p:cNvSpPr/>
          <p:nvPr userDrawn="1"/>
        </p:nvSpPr>
        <p:spPr>
          <a:xfrm>
            <a:off x="695071" y="6323307"/>
            <a:ext cx="8448929" cy="46037"/>
          </a:xfrm>
          <a:prstGeom prst="rect">
            <a:avLst/>
          </a:prstGeom>
          <a:gradFill flip="none" rotWithShape="1">
            <a:gsLst>
              <a:gs pos="0">
                <a:srgbClr val="E6E9ED"/>
              </a:gs>
              <a:gs pos="68000">
                <a:srgbClr val="0E6EC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에이투지체 7 Bold" pitchFamily="2" charset="-127"/>
              <a:ea typeface="에이투지체 4 Regular" pitchFamily="2" charset="-127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8754871" y="6477653"/>
            <a:ext cx="231140" cy="228600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 b="0" i="0">
                <a:solidFill>
                  <a:srgbClr val="001F5F"/>
                </a:solidFill>
                <a:latin typeface="에이투지체 4 Regular" pitchFamily="2" charset="-127"/>
                <a:cs typeface="에이투지체 4 Regular" pitchFamily="2" charset="-127"/>
              </a:defRPr>
            </a:lvl1pPr>
          </a:lstStyle>
          <a:p>
            <a:pPr marL="12700">
              <a:spcBef>
                <a:spcPts val="204"/>
              </a:spcBef>
            </a:pPr>
            <a:fld id="{81D60167-4931-47E6-BA6A-407CBD079E47}" type="slidenum">
              <a:rPr lang="en-US" altLang="ko-KR" spc="-25" smtClean="0"/>
              <a:pPr marL="12700">
                <a:spcBef>
                  <a:spcPts val="204"/>
                </a:spcBef>
              </a:pPr>
              <a:t>‹#›</a:t>
            </a:fld>
            <a:endParaRPr lang="en-US" altLang="ko-KR" spc="-25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55163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72" userDrawn="1">
          <p15:clr>
            <a:srgbClr val="FBAE40"/>
          </p15:clr>
        </p15:guide>
        <p15:guide id="2" orient="horz" pos="3744" userDrawn="1">
          <p15:clr>
            <a:srgbClr val="FBAE40"/>
          </p15:clr>
        </p15:guide>
        <p15:guide id="3" orient="horz" pos="576" userDrawn="1">
          <p15:clr>
            <a:srgbClr val="FBAE40"/>
          </p15:clr>
        </p15:guide>
        <p15:guide id="4" pos="288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Relationship Id="rId7" Type="http://schemas.microsoft.com/office/2007/relationships/hdphoto" Target="../media/hdphoto1.wdp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페인팅, 예술, 다채로움, 핑크이(가) 표시된 사진  자동 생성된 설명">
            <a:extLst>
              <a:ext uri="{FF2B5EF4-FFF2-40B4-BE49-F238E27FC236}">
                <a16:creationId xmlns:a16="http://schemas.microsoft.com/office/drawing/2014/main" id="{4DB77483-C8AE-7635-D0B5-8A8FAC8A504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alphaModFix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9792" t="37759" r="46441" b="3687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A8528158-071C-290B-2A3F-D8BD417865E3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BEEF2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에이투지체 4 Regular" pitchFamily="2" charset="-127"/>
              <a:ea typeface="에이투지체 4 Regular" pitchFamily="2" charset="-127"/>
            </a:endParaRPr>
          </a:p>
        </p:txBody>
      </p:sp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315200" y="410522"/>
            <a:ext cx="1724152" cy="319061"/>
          </a:xfrm>
          <a:prstGeom prst="rect">
            <a:avLst/>
          </a:prstGeom>
        </p:spPr>
      </p:pic>
      <p:pic>
        <p:nvPicPr>
          <p:cNvPr id="12" name="bg object 16" descr="The image showcases a sleek, dark blue, curved shape, likely a logo or design element.&#10;&#10;AI 생성 콘텐츠는 정확하지 않을 수 있습니다.">
            <a:extLst>
              <a:ext uri="{FF2B5EF4-FFF2-40B4-BE49-F238E27FC236}">
                <a16:creationId xmlns:a16="http://schemas.microsoft.com/office/drawing/2014/main" id="{D3F5B113-CDCC-9BA7-0834-A34F89470A0D}"/>
              </a:ext>
            </a:extLst>
          </p:cNvPr>
          <p:cNvPicPr/>
          <p:nvPr userDrawn="1"/>
        </p:nvPicPr>
        <p:blipFill>
          <a:blip r:embed="rId9"/>
          <a:stretch/>
        </p:blipFill>
        <p:spPr>
          <a:xfrm>
            <a:off x="0" y="1"/>
            <a:ext cx="7210552" cy="729582"/>
          </a:xfrm>
          <a:prstGeom prst="rect">
            <a:avLst/>
          </a:prstGeom>
        </p:spPr>
      </p:pic>
      <p:pic>
        <p:nvPicPr>
          <p:cNvPr id="14" name="bg object 20" descr="NATIONAL UNIVERSITY&#10;&#10;AI 생성 콘텐츠는 정확하지 않을 수 있습니다.">
            <a:extLst>
              <a:ext uri="{FF2B5EF4-FFF2-40B4-BE49-F238E27FC236}">
                <a16:creationId xmlns:a16="http://schemas.microsoft.com/office/drawing/2014/main" id="{EF877CD0-BD87-1426-E59E-8476A0E6624B}"/>
              </a:ext>
            </a:extLst>
          </p:cNvPr>
          <p:cNvPicPr/>
          <p:nvPr userDrawn="1"/>
        </p:nvPicPr>
        <p:blipFill>
          <a:blip r:embed="rId10"/>
          <a:stretch/>
        </p:blipFill>
        <p:spPr>
          <a:xfrm>
            <a:off x="76200" y="6408154"/>
            <a:ext cx="1371600" cy="388018"/>
          </a:xfrm>
          <a:prstGeom prst="rect">
            <a:avLst/>
          </a:prstGeom>
        </p:spPr>
      </p:pic>
      <p:sp>
        <p:nvSpPr>
          <p:cNvPr id="31" name="직사각형 30">
            <a:extLst>
              <a:ext uri="{FF2B5EF4-FFF2-40B4-BE49-F238E27FC236}">
                <a16:creationId xmlns:a16="http://schemas.microsoft.com/office/drawing/2014/main" id="{21660F25-39A5-700C-FA9A-B022960316CD}"/>
              </a:ext>
            </a:extLst>
          </p:cNvPr>
          <p:cNvSpPr/>
          <p:nvPr userDrawn="1"/>
        </p:nvSpPr>
        <p:spPr>
          <a:xfrm>
            <a:off x="695070" y="6300289"/>
            <a:ext cx="8448930" cy="46037"/>
          </a:xfrm>
          <a:prstGeom prst="rect">
            <a:avLst/>
          </a:prstGeom>
          <a:gradFill flip="none" rotWithShape="1">
            <a:gsLst>
              <a:gs pos="0">
                <a:srgbClr val="E6E9ED"/>
              </a:gs>
              <a:gs pos="68000">
                <a:srgbClr val="0E6EC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에이투지체 7 Bold" pitchFamily="2" charset="-127"/>
              <a:ea typeface="에이투지체 4 Regular" pitchFamily="2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65" r:id="rId3"/>
    <p:sldLayoutId id="2147483666" r:id="rId4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orient="horz" pos="57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82296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에이투지체 5 Medium"/>
              </a:rPr>
              <a:t>결과보고서 · 과제 최종 발표자료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920240"/>
            <a:ext cx="7863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82B49"/>
                </a:solidFill>
                <a:latin typeface="에이투지체 8 ExtraBold"/>
              </a:rPr>
              <a:t>지능형 IoT 네트워크 트래픽 분류 모델 성능 향상 (v2)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2980B9"/>
                </a:solidFill>
                <a:latin typeface="에이투지체 5 Medium"/>
              </a:rPr>
              <a:t>도메인 특성 공학(Feature Engineering) &amp; 머신러닝 앙상블 기반 고도화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566160"/>
            <a:ext cx="7863840" cy="20116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C8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703320"/>
            <a:ext cx="749807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82B49"/>
                </a:solidFill>
                <a:latin typeface="에이투지체 7 Bold"/>
              </a:rPr>
              <a:t>과제 개요 및 연구 메타데이터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323232"/>
                </a:solidFill>
                <a:latin typeface="에이투지체 4 Regular"/>
              </a:rPr>
              <a:t>• 연구 목적: 암호화된 VPN / Non-VPN 트래픽 다중 클래스(14종) 고정밀 분류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323232"/>
                </a:solidFill>
                <a:latin typeface="에이투지체 4 Regular"/>
              </a:rPr>
              <a:t>• 핵심 목표: v1 딥러닝 베이스라인(0.5941) 및 Random Forest(0.8586) 대비 성능 대폭 향상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323232"/>
                </a:solidFill>
                <a:latin typeface="에이투지체 4 Regular"/>
              </a:rPr>
              <a:t>• 차별화 핵심: 도메인 특성 공학(75차원) + 지도학습 특성 선택(38개) + 클래스 가중 트리 앙상블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323232"/>
                </a:solidFill>
                <a:latin typeface="에이투지체 4 Regular"/>
              </a:rPr>
              <a:t>• 소속 및 성명: 충북대학교 일반대학원 스마트컴퓨터인공지능학과 | 학번: 2026154001 | 성명: 정용석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73152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58D7CD"/>
                </a:solidFill>
                <a:latin typeface="에이투지체 7 Bold"/>
              </a:rPr>
              <a:t>DATASET &amp; PREPROCESSING · STRATIFIED 60/20/20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1752" y="237744"/>
            <a:ext cx="6858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50" b="1">
                <a:solidFill>
                  <a:srgbClr val="FFFFFF"/>
                </a:solidFill>
                <a:latin typeface="에이투지체 5 Medium"/>
              </a:rPr>
              <a:t>데이터셋 구조 및 전처리·분할 (Data &amp; Split)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에이투지체 4 Regular"/>
              </a:rPr>
              <a:t>2 /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4114800" cy="51206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C8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3931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82B49"/>
                </a:solidFill>
                <a:latin typeface="에이투지체 7 Bold"/>
              </a:rPr>
              <a:t>1. 데이터 정제 및 라벨 상충 분석</a:t>
            </a:r>
          </a:p>
          <a:p>
            <a:pPr>
              <a:spcBef>
                <a:spcPts val="600"/>
              </a:spcBef>
            </a:pPr>
            <a:r>
              <a:rPr sz="1150" b="0">
                <a:solidFill>
                  <a:srgbClr val="323232"/>
                </a:solidFill>
                <a:latin typeface="에이투지체 4 Regular"/>
              </a:rPr>
              <a:t>• 대상 데이터셋: ISCX VPN-NonVPN 2016</a:t>
            </a:r>
            <a:br/>
            <a:r>
              <a:t>  (TimeBasedFeatures-Dataset-15s.arff)</a:t>
            </a:r>
          </a:p>
          <a:p>
            <a:pPr>
              <a:spcBef>
                <a:spcPts val="600"/>
              </a:spcBef>
            </a:pPr>
            <a:r>
              <a:rPr sz="1150" b="0">
                <a:solidFill>
                  <a:srgbClr val="323232"/>
                </a:solidFill>
                <a:latin typeface="에이투지체 4 Regular"/>
              </a:rPr>
              <a:t>• 데이터 정제 (Data Cleaning):</a:t>
            </a:r>
            <a:br/>
            <a:r>
              <a:t>  - Byte string 디코딩 및 완전 일치 중복 684건 제거</a:t>
            </a:r>
            <a:br/>
            <a:r>
              <a:t>  - 정제 후 총 18,074건 확보 (원본 18,758건)</a:t>
            </a:r>
          </a:p>
          <a:p>
            <a:pPr>
              <a:spcBef>
                <a:spcPts val="600"/>
              </a:spcBef>
            </a:pPr>
            <a:r>
              <a:rPr sz="1150" b="0">
                <a:solidFill>
                  <a:srgbClr val="323232"/>
                </a:solidFill>
                <a:latin typeface="에이투지체 4 Regular"/>
              </a:rPr>
              <a:t>• 동일 특성 상충 라벨(Label Ambiguity) 발견:</a:t>
            </a:r>
            <a:br/>
            <a:r>
              <a:t>  - 완벽히 동일한 시계열 통계 특성을 가짐에도 라벨이 서로 다른 그룹 41개 존재</a:t>
            </a:r>
            <a:br/>
            <a:r>
              <a:t>  - 정형 요약 통계량의 이론적 한계점 사전 식별</a:t>
            </a:r>
          </a:p>
          <a:p>
            <a:pPr>
              <a:spcBef>
                <a:spcPts val="600"/>
              </a:spcBef>
            </a:pPr>
            <a:r>
              <a:rPr sz="1150" b="0">
                <a:solidFill>
                  <a:srgbClr val="323232"/>
                </a:solidFill>
                <a:latin typeface="에이투지체 4 Regular"/>
              </a:rPr>
              <a:t>• 공정 데이터 분할 (Stratified 60/20/20):</a:t>
            </a:r>
            <a:br/>
            <a:r>
              <a:t>  - Train: 10,844건 (60%)</a:t>
            </a:r>
            <a:br/>
            <a:r>
              <a:t>  - Val: 3,615건 (20%) | Test: 3,615건 (20%)</a:t>
            </a:r>
            <a:br/>
            <a:r>
              <a:t>  - random_state=42 고정 (v1 기준과 완전 일치)</a:t>
            </a:r>
          </a:p>
          <a:p>
            <a:pPr>
              <a:spcBef>
                <a:spcPts val="600"/>
              </a:spcBef>
            </a:pPr>
            <a:r>
              <a:rPr sz="1150" b="0">
                <a:solidFill>
                  <a:srgbClr val="323232"/>
                </a:solidFill>
                <a:latin typeface="에이투지체 4 Regular"/>
              </a:rPr>
              <a:t>• 엄격한 데이터 누수(Data Leakage) 차단:</a:t>
            </a:r>
            <a:br/>
            <a:r>
              <a:t>  - RobustScaler &amp; SelectFromModel은 Train에만 fit</a:t>
            </a:r>
          </a:p>
        </p:txBody>
      </p:sp>
      <p:pic>
        <p:nvPicPr>
          <p:cNvPr id="7" name="Picture 6" descr="plot_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051560"/>
            <a:ext cx="3749039" cy="29260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846320" y="4160520"/>
            <a:ext cx="3749039" cy="20116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C8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425196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82B49"/>
                </a:solidFill>
                <a:latin typeface="에이투지체 7 Bold"/>
              </a:rPr>
              <a:t>클래스 불균형 분석 요약</a:t>
            </a:r>
          </a:p>
          <a:p>
            <a:pPr>
              <a:spcBef>
                <a:spcPts val="400"/>
              </a:spcBef>
            </a:pPr>
            <a:r>
              <a:rPr sz="1150" b="0">
                <a:solidFill>
                  <a:srgbClr val="323232"/>
                </a:solidFill>
                <a:latin typeface="에이투지체 4 Regular"/>
              </a:rPr>
              <a:t>• 다수 클래스: VPN-NonVPN 간 수천 건 편중</a:t>
            </a:r>
            <a:br/>
            <a:r>
              <a:t>• 소수 클래스: 일부 앱 트래픽 100건 미만 존재</a:t>
            </a:r>
            <a:br/>
            <a:r>
              <a:t>• 대응책: v2에서 class_weight='balanced_subsample' 가중 페널티를 트리에 부여하여 해결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73152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58D7CD"/>
                </a:solidFill>
                <a:latin typeface="에이투지체 7 Bold"/>
              </a:rPr>
              <a:t>BASELINE REPRODUCTION &amp; ANALYSIS · V1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1752" y="237744"/>
            <a:ext cx="6858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50" b="1">
                <a:solidFill>
                  <a:srgbClr val="FFFFFF"/>
                </a:solidFill>
                <a:latin typeface="에이투지체 5 Medium"/>
              </a:rPr>
              <a:t>v1 베이스라인 요약 및 한계점 분석 (v1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에이투지체 4 Regular"/>
              </a:rPr>
              <a:t>3 /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3840480" cy="51206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C8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3657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82B49"/>
                </a:solidFill>
                <a:latin typeface="에이투지체 7 Bold"/>
              </a:rPr>
              <a:t>v1 딥러닝(Deep NN) 실험 결과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23232"/>
                </a:solidFill>
                <a:latin typeface="에이투지체 4 Regular"/>
              </a:rPr>
              <a:t>• 모델 구조: Dense(256) → Dropout(0.3) → Dense(128) → Dropout(0.2) → Dense(64) → Dense(14)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23232"/>
                </a:solidFill>
                <a:latin typeface="에이투지체 4 Regular"/>
              </a:rPr>
              <a:t>• 정규화 및 최적화: Adam, EarlyStopping(patience=10), ReduceLROnPlateau(patience=5), 최대 50 Epochs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23232"/>
                </a:solidFill>
                <a:latin typeface="에이투지체 4 Regular"/>
              </a:rPr>
              <a:t>• 3-Run Test 실측 성능 (Mean ± Std, ddof=1):</a:t>
            </a:r>
            <a:br/>
            <a:r>
              <a:t>  - Test Accuracy: 0.5941 ± 0.0078</a:t>
            </a:r>
            <a:br/>
            <a:r>
              <a:t>  - Test Macro-F1: 0.4908 ± 0.0094</a:t>
            </a:r>
            <a:br/>
            <a:r>
              <a:t>  - Baseline DL(0.4990) 대비 개선되었으나 실전 활용에 한계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23232"/>
                </a:solidFill>
                <a:latin typeface="에이투지체 4 Regular"/>
              </a:rPr>
              <a:t>• 소수 클래스 재현율 문제:</a:t>
            </a:r>
            <a:br/>
            <a:r>
              <a:t>  - 불균형 및 라벨 충돌로 인해 특정 클래스 예측 실패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051560"/>
            <a:ext cx="3931920" cy="51206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C8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143000"/>
            <a:ext cx="37490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82B49"/>
                </a:solidFill>
                <a:latin typeface="에이투지체 7 Bold"/>
              </a:rPr>
              <a:t>딥러닝 한계 원인 분석 및 시사점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23232"/>
                </a:solidFill>
                <a:latin typeface="에이투지체 4 Regular"/>
              </a:rPr>
              <a:t>• 머신러닝 대비 성능 열세 지속:</a:t>
            </a:r>
            <a:br/>
            <a:r>
              <a:t>  - Baseline Random Forest (Acc 0.8586) 대비</a:t>
            </a:r>
            <a:br/>
            <a:r>
              <a:t>    -26.45%p 뒤처지는 심각한 성능 한계 노출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23232"/>
                </a:solidFill>
                <a:latin typeface="에이투지체 4 Regular"/>
              </a:rPr>
              <a:t>• 원인 1: 정형 시계열 통계 피처의 본질</a:t>
            </a:r>
            <a:br/>
            <a:r>
              <a:t>  - 플로우 시간·바이트 통계 요약값은 축 평행(axis-aligned) 분할을 수행하는 결정 트리 계열이 연속 함수 매핑 신경망보다 훨씬 효과적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23232"/>
                </a:solidFill>
                <a:latin typeface="에이투지체 4 Regular"/>
              </a:rPr>
              <a:t>• 원인 2: 극단적 불균형 및 41개 상충 라벨 노이즈</a:t>
            </a:r>
            <a:br/>
            <a:r>
              <a:t>  - 동일 통계량에 상이한 라벨이 존재하여 역전파 시 Loss 발산 및 다수 클래스 편향 가속화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23232"/>
                </a:solidFill>
                <a:latin typeface="에이투지체 4 Regular"/>
              </a:rPr>
              <a:t>• v2 설계 결론:</a:t>
            </a:r>
            <a:br/>
            <a:r>
              <a:t>  - 무의미한 신경망 심화 대신 도메인 특성 공학 + 트리 앙상블 조합으로의 패러다임 전환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73152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58D7CD"/>
                </a:solidFill>
                <a:latin typeface="에이투지체 7 Bold"/>
              </a:rPr>
              <a:t>PROPOSED METHOD · DOMAIN FEATURE ENG &amp; TREE ENSEMBLE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1752" y="237744"/>
            <a:ext cx="6858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50" b="1">
                <a:solidFill>
                  <a:srgbClr val="FFFFFF"/>
                </a:solidFill>
                <a:latin typeface="에이투지체 5 Medium"/>
              </a:rPr>
              <a:t>v2 차별화 핵심 접근 전략 (Distinct v2 Approach)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에이투지체 4 Regular"/>
              </a:rPr>
              <a:t>4 /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2514600" cy="51206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C8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43000"/>
            <a:ext cx="2423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2B49"/>
                </a:solidFill>
                <a:latin typeface="에이투지체 7 Bold"/>
              </a:rPr>
              <a:t>1. 도메인 특성 공학</a:t>
            </a:r>
            <a:br/>
            <a:r>
              <a:t>(Feature Eng.)</a:t>
            </a:r>
          </a:p>
          <a:p>
            <a:pPr>
              <a:spcBef>
                <a:spcPts val="600"/>
              </a:spcBef>
            </a:pPr>
            <a:r>
              <a:rPr sz="1150" b="0">
                <a:solidFill>
                  <a:srgbClr val="323232"/>
                </a:solidFill>
                <a:latin typeface="에이투지체 4 Regular"/>
              </a:rPr>
              <a:t>• 비선형 왜도 완화:</a:t>
            </a:r>
            <a:br/>
            <a:r>
              <a:t>  - 극단적 롱테일 분포 패킷/바이트에 np.log1p 비선형 변환</a:t>
            </a:r>
          </a:p>
          <a:p>
            <a:pPr>
              <a:spcBef>
                <a:spcPts val="600"/>
              </a:spcBef>
            </a:pPr>
            <a:r>
              <a:rPr sz="1150" b="0">
                <a:solidFill>
                  <a:srgbClr val="323232"/>
                </a:solidFill>
                <a:latin typeface="에이투지체 4 Regular"/>
              </a:rPr>
              <a:t>• 도메인 비율 특성:</a:t>
            </a:r>
            <a:br/>
            <a:r>
              <a:t>  - 플로우 지속시간당 패킷비율</a:t>
            </a:r>
            <a:br/>
            <a:r>
              <a:t>  - 패킷당 평균 바이트 비율</a:t>
            </a:r>
          </a:p>
          <a:p>
            <a:pPr>
              <a:spcBef>
                <a:spcPts val="600"/>
              </a:spcBef>
            </a:pPr>
            <a:r>
              <a:rPr sz="1150" b="0">
                <a:solidFill>
                  <a:srgbClr val="323232"/>
                </a:solidFill>
                <a:latin typeface="에이투지체 4 Regular"/>
              </a:rPr>
              <a:t>• 변동성 지표(CV):</a:t>
            </a:r>
            <a:br/>
            <a:r>
              <a:t>  - 표준편차/평균 비율 산출로 버스트 트래픽 정밀 식별</a:t>
            </a:r>
          </a:p>
          <a:p>
            <a:pPr>
              <a:spcBef>
                <a:spcPts val="600"/>
              </a:spcBef>
            </a:pPr>
            <a:r>
              <a:rPr sz="1150" b="0">
                <a:solidFill>
                  <a:srgbClr val="323232"/>
                </a:solidFill>
                <a:latin typeface="에이투지체 4 Regular"/>
              </a:rPr>
              <a:t>• Active/Idle 주기 분석:</a:t>
            </a:r>
            <a:br/>
            <a:r>
              <a:t>  - 활성 시간 대비 유휴 시간 점유율 계산</a:t>
            </a:r>
          </a:p>
          <a:p>
            <a:pPr>
              <a:spcBef>
                <a:spcPts val="600"/>
              </a:spcBef>
            </a:pPr>
            <a:r>
              <a:rPr sz="1150" b="0">
                <a:solidFill>
                  <a:srgbClr val="323232"/>
                </a:solidFill>
                <a:latin typeface="에이투지체 4 Regular"/>
              </a:rPr>
              <a:t>• 차원 확장:</a:t>
            </a:r>
            <a:br/>
            <a:r>
              <a:t>  - 23차원 → 75차원 도메인 특성 공간 확장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051560"/>
            <a:ext cx="2514600" cy="51206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C8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1143000"/>
            <a:ext cx="2423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2B49"/>
                </a:solidFill>
                <a:latin typeface="에이투지체 7 Bold"/>
              </a:rPr>
              <a:t>2. 지도학습 특성 선택</a:t>
            </a:r>
            <a:br/>
            <a:r>
              <a:t>(Feature Selection)</a:t>
            </a:r>
          </a:p>
          <a:p>
            <a:pPr>
              <a:spcBef>
                <a:spcPts val="800"/>
              </a:spcBef>
            </a:pPr>
            <a:r>
              <a:rPr sz="1150" b="0">
                <a:solidFill>
                  <a:srgbClr val="323232"/>
                </a:solidFill>
                <a:latin typeface="에이투지체 4 Regular"/>
              </a:rPr>
              <a:t>• SelectFromModel 기법:</a:t>
            </a:r>
            <a:br/>
            <a:r>
              <a:t>  - ExtraTrees의 불순도 감소 기반 중요도 계산</a:t>
            </a:r>
          </a:p>
          <a:p>
            <a:pPr>
              <a:spcBef>
                <a:spcPts val="800"/>
              </a:spcBef>
            </a:pPr>
            <a:r>
              <a:rPr sz="1150" b="0">
                <a:solidFill>
                  <a:srgbClr val="323232"/>
                </a:solidFill>
                <a:latin typeface="에이투지체 4 Regular"/>
              </a:rPr>
              <a:t>• 다중공선성 및 노이즈 제거:</a:t>
            </a:r>
            <a:br/>
            <a:r>
              <a:t>  - 75개 확장 피처 중 핵심 식별력 보유 상위 38개 특성 선별</a:t>
            </a:r>
          </a:p>
          <a:p>
            <a:pPr>
              <a:spcBef>
                <a:spcPts val="800"/>
              </a:spcBef>
            </a:pPr>
            <a:r>
              <a:rPr sz="1150" b="0">
                <a:solidFill>
                  <a:srgbClr val="323232"/>
                </a:solidFill>
                <a:latin typeface="에이투지체 4 Regular"/>
              </a:rPr>
              <a:t>• 데이터 누수 원천 방지:</a:t>
            </a:r>
            <a:br/>
            <a:r>
              <a:t>  - Feature Selection 절차를 오직 Train 셋에만 국한</a:t>
            </a:r>
          </a:p>
          <a:p>
            <a:pPr>
              <a:spcBef>
                <a:spcPts val="800"/>
              </a:spcBef>
            </a:pPr>
            <a:r>
              <a:rPr sz="1150" b="0">
                <a:solidFill>
                  <a:srgbClr val="323232"/>
                </a:solidFill>
                <a:latin typeface="에이투지체 4 Regular"/>
              </a:rPr>
              <a:t>• 강건한 스케일링:</a:t>
            </a:r>
            <a:br/>
            <a:r>
              <a:t>  - RobustScaler로 이상치(Outlier) 왜곡 차단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051560"/>
            <a:ext cx="2514600" cy="51206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C8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0760" y="1143000"/>
            <a:ext cx="2423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2B49"/>
                </a:solidFill>
                <a:latin typeface="에이투지체 7 Bold"/>
              </a:rPr>
              <a:t>3. 클래스 가중 앙상블</a:t>
            </a:r>
            <a:br/>
            <a:r>
              <a:t>(Tree Ensemble)</a:t>
            </a:r>
          </a:p>
          <a:p>
            <a:pPr>
              <a:spcBef>
                <a:spcPts val="800"/>
              </a:spcBef>
            </a:pPr>
            <a:r>
              <a:rPr sz="1150" b="0">
                <a:solidFill>
                  <a:srgbClr val="323232"/>
                </a:solidFill>
                <a:latin typeface="에이투지체 4 Regular"/>
              </a:rPr>
              <a:t>• 불균형 완화 가중치:</a:t>
            </a:r>
            <a:br/>
            <a:r>
              <a:t>  - `class_weight='balanced_subsample'`</a:t>
            </a:r>
            <a:br/>
            <a:r>
              <a:t>  - 각 부트스트랩 트리마다 소수 클래스 페널티 가중 부여</a:t>
            </a:r>
          </a:p>
          <a:p>
            <a:pPr>
              <a:spcBef>
                <a:spcPts val="800"/>
              </a:spcBef>
            </a:pPr>
            <a:r>
              <a:rPr sz="1150" b="0">
                <a:solidFill>
                  <a:srgbClr val="323232"/>
                </a:solidFill>
                <a:latin typeface="에이투지체 4 Regular"/>
              </a:rPr>
              <a:t>• 이종 트리 모델 결합:</a:t>
            </a:r>
            <a:br/>
            <a:r>
              <a:t>  - Random Forest (분산 감소)</a:t>
            </a:r>
            <a:br/>
            <a:r>
              <a:t>  - ExtraTrees (무작위 분할로 과적합 방지)</a:t>
            </a:r>
          </a:p>
          <a:p>
            <a:pPr>
              <a:spcBef>
                <a:spcPts val="800"/>
              </a:spcBef>
            </a:pPr>
            <a:r>
              <a:rPr sz="1150" b="0">
                <a:solidFill>
                  <a:srgbClr val="323232"/>
                </a:solidFill>
                <a:latin typeface="에이투지체 4 Regular"/>
              </a:rPr>
              <a:t>• Soft Voting Classifier:</a:t>
            </a:r>
            <a:br/>
            <a:r>
              <a:t>  - 예측 확률 가중 평균으로 미세 결정 경계 정밀화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73152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58D7CD"/>
                </a:solidFill>
                <a:latin typeface="에이투지체 7 Bold"/>
              </a:rPr>
              <a:t>EXPERIMENTAL RESULTS · CONFUSION MATRIX &amp; IMPORTANCE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1752" y="237744"/>
            <a:ext cx="6858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50" b="1">
                <a:solidFill>
                  <a:srgbClr val="FFFFFF"/>
                </a:solidFill>
                <a:latin typeface="에이투지체 5 Medium"/>
              </a:rPr>
              <a:t>v2 실험 결과: 혼동 행렬 및 핵심 특성 기여도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에이투지체 4 Regular"/>
              </a:rPr>
              <a:t>5 / 7</a:t>
            </a:r>
          </a:p>
        </p:txBody>
      </p:sp>
      <p:pic>
        <p:nvPicPr>
          <p:cNvPr id="5" name="Picture 4" descr="plot_cell15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4023360" cy="3931920"/>
          </a:xfrm>
          <a:prstGeom prst="rect">
            <a:avLst/>
          </a:prstGeom>
        </p:spPr>
      </p:pic>
      <p:pic>
        <p:nvPicPr>
          <p:cNvPr id="6" name="Picture 5" descr="plot_cell15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051560"/>
            <a:ext cx="4023360" cy="3931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5074920"/>
            <a:ext cx="8138160" cy="10972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C8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120640"/>
            <a:ext cx="79552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82B49"/>
                </a:solidFill>
                <a:latin typeface="에이투지체 7 Bold"/>
              </a:rPr>
              <a:t>시각화 분석 요약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323232"/>
                </a:solidFill>
                <a:latin typeface="에이투지체 4 Regular"/>
              </a:rPr>
              <a:t>• Confusion Matrix 분석: 14개 다중 클래스 전반에서 대각 성분(정분류)이 뚜렷하며 소수 클래스 재현율 대폭 개선</a:t>
            </a:r>
            <a:br/>
            <a:r>
              <a:t>• Feature Importance 분석: 플로우 지속시간 대비 바이트 비율 및 Log 왜도 완화 특성이 분류 결정에 핵심 기여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73152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58D7CD"/>
                </a:solidFill>
                <a:latin typeface="에이투지체 7 Bold"/>
              </a:rPr>
              <a:t>PERFORMANCE COMPARISON · 3-SEED HONEST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1752" y="237744"/>
            <a:ext cx="6858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50" b="1">
                <a:solidFill>
                  <a:srgbClr val="FFFFFF"/>
                </a:solidFill>
                <a:latin typeface="에이투지체 5 Medium"/>
              </a:rPr>
              <a:t>모델 종합 성능 비교 (Comparison: Baseline vs v1 vs v2)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에이투지체 4 Regular"/>
              </a:rPr>
              <a:t>6 / 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051560"/>
          <a:ext cx="80467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097280"/>
                <a:gridCol w="1097280"/>
                <a:gridCol w="1097280"/>
                <a:gridCol w="1325880"/>
                <a:gridCol w="132588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에이투지체 7 Bold"/>
                        </a:rPr>
                        <a:t>모델 (Model)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에이투지체 7 Bold"/>
                        </a:rPr>
                        <a:t>Seed 42</a:t>
                      </a:r>
                      <a:br/>
                      <a:r>
                        <a:t>(Acc / F1)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에이투지체 7 Bold"/>
                        </a:rPr>
                        <a:t>Seed 1004</a:t>
                      </a:r>
                      <a:br/>
                      <a:r>
                        <a:t>(Acc / F1)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에이투지체 7 Bold"/>
                        </a:rPr>
                        <a:t>Seed 2026</a:t>
                      </a:r>
                      <a:br/>
                      <a:r>
                        <a:t>(Acc / F1)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에이투지체 7 Bold"/>
                        </a:rPr>
                        <a:t>Mean ± Std</a:t>
                      </a:r>
                      <a:br/>
                      <a:r>
                        <a:t>(Accuracy)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에이투지체 7 Bold"/>
                        </a:rPr>
                        <a:t>Mean ± Std</a:t>
                      </a:r>
                      <a:br/>
                      <a:r>
                        <a:t>(Macro-F1)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23232"/>
                          </a:solidFill>
                          <a:latin typeface="에이투지체 4 Regular"/>
                        </a:rPr>
                        <a:t>Baseline RF (재현)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23232"/>
                          </a:solidFill>
                          <a:latin typeface="에이투지체 4 Regular"/>
                        </a:rPr>
                        <a:t>0.8614 / 0.8294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23232"/>
                          </a:solidFill>
                          <a:latin typeface="에이투지체 4 Regular"/>
                        </a:rPr>
                        <a:t>0.8542 / 0.8189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23232"/>
                          </a:solidFill>
                          <a:latin typeface="에이투지체 4 Regular"/>
                        </a:rPr>
                        <a:t>0.8600 / 0.8252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23232"/>
                          </a:solidFill>
                          <a:latin typeface="에이투지체 4 Regular"/>
                        </a:rPr>
                        <a:t>0.8586 ± 0.0038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23232"/>
                          </a:solidFill>
                          <a:latin typeface="에이투지체 4 Regular"/>
                        </a:rPr>
                        <a:t>0.8245 ± 0.0053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23232"/>
                          </a:solidFill>
                          <a:latin typeface="에이투지체 4 Regular"/>
                        </a:rPr>
                        <a:t>v1 Deep NN (재현)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23232"/>
                          </a:solidFill>
                          <a:latin typeface="에이투지체 4 Regular"/>
                        </a:rPr>
                        <a:t>0.5917 / 0.4847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23232"/>
                          </a:solidFill>
                          <a:latin typeface="에이투지체 4 Regular"/>
                        </a:rPr>
                        <a:t>0.6028 / 0.5017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23232"/>
                          </a:solidFill>
                          <a:latin typeface="에이투지체 4 Regular"/>
                        </a:rPr>
                        <a:t>0.5878 / 0.4860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23232"/>
                          </a:solidFill>
                          <a:latin typeface="에이투지체 4 Regular"/>
                        </a:rPr>
                        <a:t>0.5941 ± 0.0078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23232"/>
                          </a:solidFill>
                          <a:latin typeface="에이투지체 4 Regular"/>
                        </a:rPr>
                        <a:t>0.4908 ± 0.0094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82B49"/>
                          </a:solidFill>
                          <a:latin typeface="에이투지체 7 Bold"/>
                        </a:rPr>
                        <a:t>v2 Ensemble (Ours)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2B49"/>
                          </a:solidFill>
                          <a:latin typeface="에이투지체 7 Bold"/>
                        </a:rPr>
                        <a:t>0.9043 / 0.8777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2B49"/>
                          </a:solidFill>
                          <a:latin typeface="에이투지체 7 Bold"/>
                        </a:rPr>
                        <a:t>0.9037 / 0.8793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2B49"/>
                          </a:solidFill>
                          <a:latin typeface="에이투지체 7 Bold"/>
                        </a:rPr>
                        <a:t>0.9040 / 0.8786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2B49"/>
                          </a:solidFill>
                          <a:latin typeface="에이투지체 7 Bold"/>
                        </a:rPr>
                        <a:t>0.9040 ± 0.0003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2B49"/>
                          </a:solidFill>
                          <a:latin typeface="에이투지체 7 Bold"/>
                        </a:rPr>
                        <a:t>0.8785 ± 0.0008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plot_cell15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0"/>
            <a:ext cx="4114800" cy="2926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846320" y="3200400"/>
            <a:ext cx="3749039" cy="29260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C8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3291840"/>
            <a:ext cx="3566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2B49"/>
                </a:solidFill>
                <a:latin typeface="에이투지체 7 Bold"/>
              </a:rPr>
              <a:t>성능 향상폭 (Gain Analysis)</a:t>
            </a:r>
          </a:p>
          <a:p>
            <a:pPr>
              <a:spcBef>
                <a:spcPts val="600"/>
              </a:spcBef>
            </a:pPr>
            <a:r>
              <a:rPr sz="1150" b="0">
                <a:solidFill>
                  <a:srgbClr val="323232"/>
                </a:solidFill>
                <a:latin typeface="에이투지체 4 Regular"/>
              </a:rPr>
              <a:t>• v2 vs Baseline RF 개선폭:</a:t>
            </a:r>
            <a:br/>
            <a:r>
              <a:t>  - Accuracy: +4.55%p (0.8586 → 0.9040)</a:t>
            </a:r>
            <a:br/>
            <a:r>
              <a:t>  - Macro-F1: +5.40%p (0.8245 → 0.8785)</a:t>
            </a:r>
          </a:p>
          <a:p>
            <a:pPr>
              <a:spcBef>
                <a:spcPts val="600"/>
              </a:spcBef>
            </a:pPr>
            <a:r>
              <a:rPr sz="1150" b="0">
                <a:solidFill>
                  <a:srgbClr val="323232"/>
                </a:solidFill>
                <a:latin typeface="에이투지체 4 Regular"/>
              </a:rPr>
              <a:t>• v2 vs v1 Deep NN 개선폭:</a:t>
            </a:r>
            <a:br/>
            <a:r>
              <a:t>  - Accuracy: +30.99%p (0.5941 → 0.9040)</a:t>
            </a:r>
            <a:br/>
            <a:r>
              <a:t>  - Macro-F1: +38.77%p (0.4908 → 0.8785)</a:t>
            </a:r>
          </a:p>
          <a:p>
            <a:pPr>
              <a:spcBef>
                <a:spcPts val="600"/>
              </a:spcBef>
            </a:pPr>
            <a:r>
              <a:rPr sz="1150" b="0">
                <a:solidFill>
                  <a:srgbClr val="323232"/>
                </a:solidFill>
                <a:latin typeface="에이투지체 4 Regular"/>
              </a:rPr>
              <a:t>• 재현성 검증:</a:t>
            </a:r>
            <a:br/>
            <a:r>
              <a:t>  - 3-Seed 평가에서 v2는 표준편차 ±0.0003 수준의 극히 높은 일반화 안정성 실증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73152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58D7CD"/>
                </a:solidFill>
                <a:latin typeface="에이투지체 7 Bold"/>
              </a:rPr>
              <a:t>CONCLUSION &amp; FUTURE WORK · MULTIMODAL PERSPECTIVE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1752" y="237744"/>
            <a:ext cx="6858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50" b="1">
                <a:solidFill>
                  <a:srgbClr val="FFFFFF"/>
                </a:solidFill>
                <a:latin typeface="에이투지체 5 Medium"/>
              </a:rPr>
              <a:t>결론 및 향후 연구 과제 (Conclusion &amp; Future Work)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에이투지체 4 Regular"/>
              </a:rPr>
              <a:t>7 /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3840480" cy="51206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C8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3657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82B49"/>
                </a:solidFill>
                <a:latin typeface="에이투지체 7 Bold"/>
              </a:rPr>
              <a:t>핵심 연구 결론 (Conclusions)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23232"/>
                </a:solidFill>
                <a:latin typeface="에이투지체 4 Regular"/>
              </a:rPr>
              <a:t>• 정형 통계 피처에서 트리 앙상블 우위 확증:</a:t>
            </a:r>
            <a:br/>
            <a:r>
              <a:t>  - IoT 네트워크 트래픽 분류에서 무조건적 딥러닝보다 도메인 특성 공학과 트리 앙상블이 압도적으로 우수함을 실증 (Acc 0.9040, Macro-F1 0.8785)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23232"/>
                </a:solidFill>
                <a:latin typeface="에이투지체 4 Regular"/>
              </a:rPr>
              <a:t>• 체계적 특성 공학 및 선택의 시너지:</a:t>
            </a:r>
            <a:br/>
            <a:r>
              <a:t>  - 75개 파생 특성 중 상위 38개 엄선으로 차원의 저주를 피하고 노이즈 차단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23232"/>
                </a:solidFill>
                <a:latin typeface="에이투지체 4 Regular"/>
              </a:rPr>
              <a:t>• 클래스 불균형 완화 성공:</a:t>
            </a:r>
            <a:br/>
            <a:r>
              <a:t>  - balanced_subsample 기반 가중 페널티로 소수 불균형 클래스의 식별력 제고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23232"/>
                </a:solidFill>
                <a:latin typeface="에이투지체 4 Regular"/>
              </a:rPr>
              <a:t>• 엄밀한 데이터 누수 차단:</a:t>
            </a:r>
            <a:br/>
            <a:r>
              <a:t>  - Train 셋 독립 피팅을 통해 실전 배포 시에도 신뢰할 수 있는 일반화 성능 확보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051560"/>
            <a:ext cx="3931920" cy="51206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C8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143000"/>
            <a:ext cx="37490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82B49"/>
                </a:solidFill>
                <a:latin typeface="에이투지체 7 Bold"/>
              </a:rPr>
              <a:t>한계점 및 향후 과제 (Limitations)</a:t>
            </a:r>
          </a:p>
          <a:p>
            <a:pPr>
              <a:spcBef>
                <a:spcPts val="1000"/>
              </a:spcBef>
            </a:pPr>
            <a:r>
              <a:rPr sz="1200" b="0">
                <a:solidFill>
                  <a:srgbClr val="323232"/>
                </a:solidFill>
                <a:latin typeface="에이투지체 4 Regular"/>
              </a:rPr>
              <a:t>• 데이터셋 고유 라벨 충돌 한계:</a:t>
            </a:r>
            <a:br/>
            <a:r>
              <a:t>  - 완전히 동일한 특성값을 가지나 라벨이 다른 41개 상충 그룹의 경우, 통계 요약 피처만으로는 완벽한 분리가 불가능한 이론적 상한 존재</a:t>
            </a:r>
          </a:p>
          <a:p>
            <a:pPr>
              <a:spcBef>
                <a:spcPts val="1000"/>
              </a:spcBef>
            </a:pPr>
            <a:r>
              <a:rPr sz="1200" b="0">
                <a:solidFill>
                  <a:srgbClr val="323232"/>
                </a:solidFill>
                <a:latin typeface="에이투지체 4 Regular"/>
              </a:rPr>
              <a:t>• 통계 요약량의 정보 손실:</a:t>
            </a:r>
            <a:br/>
            <a:r>
              <a:t>  - 패킷 플로우 단위 집계 통계치는 패킷 내부의 순차적 프로토콜 핸드셰이크 정보를 온전히 반영하지 못함</a:t>
            </a:r>
          </a:p>
          <a:p>
            <a:pPr>
              <a:spcBef>
                <a:spcPts val="1000"/>
              </a:spcBef>
            </a:pPr>
            <a:r>
              <a:rPr sz="1200" b="0">
                <a:solidFill>
                  <a:srgbClr val="323232"/>
                </a:solidFill>
                <a:latin typeface="에이투지체 4 Regular"/>
              </a:rPr>
              <a:t>• 향후 연구 방향 (Future Work):</a:t>
            </a:r>
            <a:br/>
            <a:r>
              <a:t>  - 패킷 페이로드 원시 바이트(Raw Byte Sequence)를 활용하는 1D-CNN / Transformer 모델과 본 통계 앙상블 모델을 결합하는 멀티모달 하이브리드 트래픽 분류 연구 제안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0D0CF27-92D3-4C60-BCD9-074150A700C5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c0049dea-67fd-4f51-b2ed-a1babfcdbf4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</TotalTime>
  <Words>1084</Words>
  <Application>Microsoft Office PowerPoint</Application>
  <PresentationFormat>화면 슬라이드 쇼(4:3)</PresentationFormat>
  <Paragraphs>214</Paragraphs>
  <Slides>13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2" baseType="lpstr">
      <vt:lpstr>에이투지체 3 Light</vt:lpstr>
      <vt:lpstr>에이투지체 4 Regular</vt:lpstr>
      <vt:lpstr>에이투지체 5 Medium</vt:lpstr>
      <vt:lpstr>에이투지체 6 SemiBold</vt:lpstr>
      <vt:lpstr>에이투지체 7 Bold</vt:lpstr>
      <vt:lpstr>에이투지체 8 ExtraBold</vt:lpstr>
      <vt:lpstr>에이투지체 9 Black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감사합니다 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이광연</dc:creator>
  <cp:lastModifiedBy>JungYong Seok</cp:lastModifiedBy>
  <cp:revision>68</cp:revision>
  <dcterms:created xsi:type="dcterms:W3CDTF">2026-06-15T12:46:26Z</dcterms:created>
  <dcterms:modified xsi:type="dcterms:W3CDTF">2026-06-16T03:43:24Z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2025-12-08T00:00:00Z</vt:filetime>
  </property>
  <property fmtid="{D5CDD505-2E9C-101B-9397-08002B2CF9AE}" pid="3" name="Creator">
    <vt:lpwstr>Microsoft® PowerPoint® Microsoft 365용</vt:lpwstr>
  </property>
  <property fmtid="{D5CDD505-2E9C-101B-9397-08002B2CF9AE}" pid="4" name="LastSaved">
    <vt:filetime>2026-06-15T00:00:00Z</vt:filetime>
  </property>
  <property fmtid="{D5CDD505-2E9C-101B-9397-08002B2CF9AE}" pid="5" name="Producer">
    <vt:lpwstr>Microsoft® PowerPoint® Microsoft 365용</vt:lpwstr>
  </property>
</Properties>
</file>